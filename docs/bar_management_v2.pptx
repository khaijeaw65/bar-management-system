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ระบบจัดการบาร์ด้วย AI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Bar Management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ณัฐวัฒน์ จิรกุลประดิษฐ์  (66210096)  —  Tech Lead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เมธี สิริปาณสาร  (630107030019)  —  Frontend Dev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อาจารย์ที่ปรึกษา: อ.สนายุ จินตนาวรรณกุล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ปีการศึกษา 2569  ·  กำหนดส่ง เม.ย. 2570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 ·  Dhurakij Pundit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ที่มาของโปรเจกต์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100584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🔬  Field Research จาก 2 ร้านจริง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54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ทีมลงพื้นที่สังเกตการทำงานจริงของบาร์ขนาดเล็ก-กลางในไทย พบปัญหาซ้ำกันในเรื่อง payment, inventory และ customer experience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54864" cy="10058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688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🎬  The Bear-Style Guest Intelligence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ได้แรงบันดาลใจจาก The Bear (FX) — บาร์เทนเดอร์ที่รู้จักลูกค้าทุกคน รู้ preference รู้ประวัติ และ deliver personalized experience ได้ทันที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54864" cy="10058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611880"/>
            <a:ext cx="8275320" cy="1005840"/>
          </a:xfrm>
          <a:prstGeom prst="rect">
            <a:avLst>
              <a:gd name="adj" fmla="val 5455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🇹🇭  Thai Bar Culture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Bottle Keep, PromptPay, Counter Seating คือบริบทเฉพาะของบาร์ไทยที่ระบบจากต่างประเทศไม่รองรับ — เราสร้างระบบที่ออกแบบมาเพื่อสิ่งเหล่านี้โดยตรง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Field Research — บรรยากาศจริงที่ลงพื้นที่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029200" cy="3474720"/>
          </a:xfrm>
          <a:prstGeom prst="rect">
            <a:avLst>
              <a:gd name="adj" fmla="val 1842"/>
            </a:avLst>
          </a:prstGeom>
          <a:solidFill>
            <a:srgbClr val="1E2535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 ใส่รูปบรรยากาศบาร์ 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บรรยากาศ counter bar ในไทย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200400" cy="3474720"/>
          </a:xfrm>
          <a:prstGeom prst="rect">
            <a:avLst>
              <a:gd name="adj" fmla="val 2000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สิ่งที่สังเกตเห็นจากพื้นที่จริง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ลูกค้าส่งสลิปทาง LINE — staff ตรวจเองไม่มีระบบ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ใช้กระดาษจดออเดอร์ — ผิดพลาด บ่อย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🍾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551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Bottle Keep บันทึกใน Excel หรือ notebook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0266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Staff ไม่รู้จักลูกค้าประจำ — ถามซ้ำทุกครั้ง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502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ไม่รู้สต็อกเหลือเท่าไหร่ — ของหมดกลางดึก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คำนวณบิลปลายคืนช้า — queue ยาว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ปัญหาที่พบ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34440"/>
            <a:ext cx="1005840" cy="219456"/>
          </a:xfrm>
          <a:prstGeom prst="rect">
            <a:avLst>
              <a:gd name="adj" fmla="val 16667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Payment Slip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18470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ลูกค้าปลอมสลิปโอนเงินเพื่อหนีไม่จ่าย — ไม่มีระบบตรวจสอบ webhook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234440"/>
            <a:ext cx="1005840" cy="219456"/>
          </a:xfrm>
          <a:prstGeom prst="rect">
            <a:avLst>
              <a:gd name="adj" fmla="val 16667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Memory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8470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ไม่มีประวัติลูกค้า ไม่รู้ preference ไม่รู้ allergen — ทุกครั้งต้องถามใหม่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880360"/>
            <a:ext cx="1005840" cy="219456"/>
          </a:xfrm>
          <a:prstGeom prst="rect">
            <a:avLst>
              <a:gd name="adj" fmla="val 16667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2880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3154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" y="34930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Line, กระดาษ, Excel คนละอัน — ข้อมูลกระจัดกระจาย ผิดพลาดบ่อย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114800" cy="1508760"/>
          </a:xfrm>
          <a:prstGeom prst="rect">
            <a:avLst>
              <a:gd name="adj" fmla="val 4242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880360"/>
            <a:ext cx="1005840" cy="219456"/>
          </a:xfrm>
          <a:prstGeom prst="rect">
            <a:avLst>
              <a:gd name="adj" fmla="val 16667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2880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3154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Track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34930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ไม่รู้ว่าสต็อกเหลือเท่าไหร่ — ของหมดกลางงาน หรือ cost เกินโดยไม่รู้ตัว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วิธีแก้ปัญหา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Ordering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Payment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097280"/>
            <a:ext cx="210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1097280"/>
            <a:ext cx="1828800" cy="777240"/>
          </a:xfrm>
          <a:prstGeom prst="rect">
            <a:avLst>
              <a:gd name="adj" fmla="val 705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1965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ป้องกัน fake slip ด้วย payment webhook จาก GB Prime Pay — ยืนยันแบบ real-time ก่อน order ถือว่าชำระแล้ว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114800" cy="1828800"/>
          </a:xfrm>
          <a:prstGeom prst="rect">
            <a:avLst>
              <a:gd name="adj" fmla="val 3500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🤖  AI Guest Intelligence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80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 preference ลูกค้าด้วย gpt-4o-mini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บาร์เทนเดอร์รู้ทันทีว่าควรเสนออะไร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ไม่เก็บข้อมูลพฤติกรรม (PDPA-safe)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4114800" cy="1828800"/>
          </a:xfrm>
          <a:prstGeom prst="rect">
            <a:avLst>
              <a:gd name="adj" fmla="val 3500"/>
            </a:avLst>
          </a:prstGeom>
          <a:solidFill>
            <a:srgbClr val="1E2535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496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🍾  Bottle Keep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880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Bottle Keep ที่ออกแบบมาสำหรับบาร์ไทย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ลูกค้าฝากขวด-เบิกขวด พร้อม balance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QR scan เพื่อดึงข้อมูลขวดที่เก็บไว้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8503920" cy="3246120"/>
          </a:xfrm>
          <a:prstGeom prst="rect">
            <a:avLst>
              <a:gd name="adj" fmla="val 2254"/>
            </a:avLst>
          </a:prstGeom>
          <a:solidFill>
            <a:srgbClr val="161C27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15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463040" cy="457200"/>
          </a:xfrm>
          <a:prstGeom prst="rect">
            <a:avLst>
              <a:gd name="adj" fmla="val 100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508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926080" cy="2194560"/>
          </a:xfrm>
          <a:prstGeom prst="rect">
            <a:avLst>
              <a:gd name="adj" fmla="val 2917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Monolith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1168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2011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33172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65176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Worker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971800"/>
            <a:ext cx="2651760" cy="256032"/>
          </a:xfrm>
          <a:prstGeom prst="rect">
            <a:avLst>
              <a:gd name="adj" fmla="val 14286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0604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1508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1417320"/>
            <a:ext cx="2468880" cy="365760"/>
          </a:xfrm>
          <a:prstGeom prst="rect">
            <a:avLst>
              <a:gd name="adj" fmla="val 125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15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920240"/>
            <a:ext cx="2468880" cy="365760"/>
          </a:xfrm>
          <a:prstGeom prst="rect">
            <a:avLst>
              <a:gd name="adj" fmla="val 12500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2423160"/>
            <a:ext cx="2468880" cy="365760"/>
          </a:xfrm>
          <a:prstGeom prst="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(media / QR)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5A56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4884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8541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93192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6849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71500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5157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SSO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 OA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98080" y="4572000"/>
            <a:ext cx="1600200" cy="384048"/>
          </a:xfrm>
          <a:prstGeom prst="rect">
            <a:avLst>
              <a:gd name="adj" fmla="val 11905"/>
            </a:avLst>
          </a:prstGeom>
          <a:solidFill>
            <a:srgbClr val="1E253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34656" y="45720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Payment Gateway — ทำไมถึงเลือก GB Prime Pay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117043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CHOSEN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14447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81051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206654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0116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PromptPay QR native — core feature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" y="239572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34086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Webhook-first design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" y="2724912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7004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Integration ง่าย — เหมาะ SME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" y="305409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99923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เอกสาร/support ภาษาไทย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" y="338328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2841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3–5 วัน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320040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" y="3456432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40156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น้อยกว่า Omise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" y="374904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9417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รองรับเฉพาะ PromptPay (scope นี้ไม่ต้องการ card)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4B7F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55848" y="11887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Omise (Opn Payments)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55848" y="15727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92424" y="182880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177393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ครบ (card, wallet, QR)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92424" y="215798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210312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 international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92424" y="248716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20440" y="243230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SDK ดี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355848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2424" y="347472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20440" y="341985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1–2 สัปดาห์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92424" y="3767328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20440" y="371246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ซับซ้อนกว่าสำหรับ scope นี้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92424" y="4059936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20440" y="40050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เอกสารภาษาอังกฤษเป็นหลัก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1097280"/>
            <a:ext cx="2697480" cy="349300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5A565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36208" y="118872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(SCB/KBank)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36208" y="15727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72784" y="182880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0" y="1773936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Rate ดีกว่าเมื่อ volume สูง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72784" y="215798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0" y="210312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Direct settlement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236208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3474720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341985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ต้องเซ็น MOU + KYC corporate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72784" y="3767328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0" y="371246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Onboarding 2–4 สัปดาห์+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72784" y="4059936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0" y="40050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Webhook latency สูงกว่า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4352544"/>
            <a:ext cx="73152" cy="73152"/>
          </a:xfrm>
          <a:prstGeom prst="ellipse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0" y="429768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ไม่เหมาะกับ rapid dev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ERD — 9 Domains · 32 Tables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865376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65376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97280"/>
            <a:ext cx="265176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55848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IDENTITY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3872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1608" y="1865376"/>
            <a:ext cx="91440" cy="914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097280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097280"/>
            <a:ext cx="265176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8776" y="1207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IAM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453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741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86537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877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65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53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7416" y="2048256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95728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156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316382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34670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334670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18688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18688" y="2395728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5584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355848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5584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3872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21608" y="3163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2395728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71616" y="2395728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08776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208776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0877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9165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74536" y="316382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3694176"/>
            <a:ext cx="26517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4462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5800" y="44622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18688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9D7F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18688" y="3694176"/>
            <a:ext cx="2651760" cy="54864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355848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3355848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55848" y="4462272"/>
            <a:ext cx="91440" cy="91440"/>
          </a:xfrm>
          <a:prstGeom prst="ellipse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38728" y="4462272"/>
            <a:ext cx="91440" cy="91440"/>
          </a:xfrm>
          <a:prstGeom prst="ellipse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71616" y="3694176"/>
            <a:ext cx="2651760" cy="1115568"/>
          </a:xfrm>
          <a:prstGeom prst="rect">
            <a:avLst>
              <a:gd name="adj" fmla="val 5738"/>
            </a:avLst>
          </a:prstGeom>
          <a:solidFill>
            <a:srgbClr val="1E2535"/>
          </a:solidFill>
          <a:ln w="19050">
            <a:solidFill>
              <a:srgbClr val="9A948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71616" y="3694176"/>
            <a:ext cx="2651760" cy="54864"/>
          </a:xfrm>
          <a:prstGeom prst="rect">
            <a:avLst/>
          </a:prstGeom>
          <a:solidFill>
            <a:srgbClr val="9A9486"/>
          </a:solidFill>
          <a:ln w="12700">
            <a:solidFill>
              <a:srgbClr val="9A948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08776" y="3803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08776" y="4462272"/>
            <a:ext cx="91440" cy="91440"/>
          </a:xfrm>
          <a:prstGeom prst="ellipse">
            <a:avLst/>
          </a:prstGeom>
          <a:solidFill>
            <a:srgbClr val="9A9486"/>
          </a:solidFill>
          <a:ln w="12700">
            <a:solidFill>
              <a:srgbClr val="9A948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tables total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818CF8"/>
                </a:solidFill>
                <a:latin typeface="Calibri" pitchFamily="34" charset="0"/>
              </a:rPr>
              <a:t>ERD · Part 1/8 · Venue &amp; Tables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venue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41833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4073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address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timezone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config_json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table_seat</a:t>
            </a:r>
          </a:p>
        </p:txBody>
      </p:sp>
      <p:sp>
        <p:nvSpPr>
          <p:cNvPr id="13" name="bg13"/>
          <p:cNvSpPr/>
          <p:nvPr/>
        </p:nvSpPr>
        <p:spPr>
          <a:xfrm>
            <a:off x="4654296" y="822960"/>
            <a:ext cx="4288536" cy="41833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4709160" y="877824"/>
            <a:ext cx="4178808" cy="4073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venue_id (FK → venue)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code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seat_type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is_active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อุปกรณ์และ Interface ที่ใช้งาน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4B7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43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4996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Staff ใช้ — รับ order, แจ้งเตือน,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 table, ดู notification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2435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Desktop POS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4996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 — สรุปยอด, จัดการ bill,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 analytics, พิมพ์ใบเสร็จ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05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QR Card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16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Counter seating — ลูกค้าสแกน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เพื่อดูเมนูและสั่งเองได้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395728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505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 (Table)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816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Table seating — QR ติดโต๊ะ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link กับ session ของโต๊ะนั้น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8953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1513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ECS Fargate + RDS + Redis + S3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CI/CD ผ่าน GitHub Actions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730752"/>
            <a:ext cx="4023360" cy="1234440"/>
          </a:xfrm>
          <a:prstGeom prst="rect">
            <a:avLst>
              <a:gd name="adj" fmla="val 5185"/>
            </a:avLst>
          </a:prstGeom>
          <a:solidFill>
            <a:srgbClr val="1E2535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8953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1513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พิมพ์ใบเสร็จและ QR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 ESC/POS protocol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ขอบเขตของระบบ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3840480"/>
          </a:xfrm>
          <a:prstGeom prst="rect">
            <a:avLst>
              <a:gd name="adj" fmla="val 1667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640080" cy="256032"/>
          </a:xfrm>
          <a:prstGeom prst="rect">
            <a:avLst>
              <a:gd name="adj" fmla="val 14286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207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207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(ส.ค. – ธ.ค. 2569)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166420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LINE SSO + JWT + Refresh Token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00253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Redis ACL permission cache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40864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+ Inventory Core (CRUD)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679192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Session + QR Code gen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017520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+ BullMQ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355848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 (moved from S2 → S1)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694176"/>
            <a:ext cx="73152" cy="7315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 Integration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114800" cy="3840480"/>
          </a:xfrm>
          <a:prstGeom prst="rect">
            <a:avLst>
              <a:gd name="adj" fmla="val 1667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207008"/>
            <a:ext cx="640080" cy="256032"/>
          </a:xfrm>
          <a:prstGeom prst="rect">
            <a:avLst>
              <a:gd name="adj" fmla="val 14286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1207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 (ม.ค. – เม.ย. 2570)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1664208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47488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Guest Intelligence (gpt-4o-mini)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002536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47488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Advanced Analytics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340864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47488" y="2276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Happy Hour automation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2679192"/>
            <a:ext cx="73152" cy="7315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47488" y="2615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optimization &amp; polish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Cut: Offline mode  ·  Member QR  ·  Staff performance analytics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Integration — Guest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70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64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response_format: json_object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74320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170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PDPA-Safe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426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Preference only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Behavioral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468880" cy="1097280"/>
          </a:xfrm>
          <a:prstGeom prst="rect">
            <a:avLst>
              <a:gd name="adj" fmla="val 5833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Quality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408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 (S2 candidate)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gpt-4o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Gemini Flash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Claude Haiku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1691640"/>
          </a:xfrm>
          <a:prstGeom prst="rect">
            <a:avLst>
              <a:gd name="adj" fmla="val 3243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0662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bar assistant summarizing guest drink preferences.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the bartender notes below, produce a JSON object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"summary": string, "top_drinks": string[], "avoid": string[]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ONLY on drink preferences. Do NOT analyze behavior,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frequency, spending, or make personality judgments.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เรียกใช้เมื่อบาร์เทนเดอร์กด "ดู AI Summary" — ไม่ได้ run อัตโนมัติทุก request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ทำไมถึงเลือก OpenAI — AI Model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704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CANDIDATE (S2)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4081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/ $0.60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json_object</a:t>
            </a:r>
            <a:endParaRPr lang="en-US" sz="780" dirty="0"/>
          </a:p>
        </p:txBody>
      </p:sp>
      <p:sp>
        <p:nvSpPr>
          <p:cNvPr id="15" name="Text 13"/>
          <p:cNvSpPr txBox="1"/>
          <p:nvPr/>
        </p:nvSpPr>
        <p:spPr>
          <a:xfrm>
            <a:off x="47548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v4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native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47548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JSON guarantee ดีที่สุด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SDK mature สุด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Community ใหญ่สุด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4B7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$0.10 / $0.40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mode มี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แต่ inconsistent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35584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เปลี่ยน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บ่อย (breaking)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ราคาดี แต่ JSON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reliability ยังน้อยกว่า OpenAI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ecosystem เปลี่ยนเร็ว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697480" cy="3858768"/>
          </a:xfrm>
          <a:prstGeom prst="rect">
            <a:avLst>
              <a:gd name="adj" fmla="val 2373"/>
            </a:avLst>
          </a:prstGeom>
          <a:solidFill>
            <a:srgbClr val="1E2535"/>
          </a:solidFill>
          <a:ln w="6350">
            <a:solidFill>
              <a:srgbClr val="9D7F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Haiku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1938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2121408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$0.25 / $1.25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1M tokens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26883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JSON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287121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use / JSON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ดี แต่แพงกว่า</a:t>
            </a:r>
            <a:endParaRPr lang="en-US" sz="78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4381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SDK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362102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⭐⭐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ดี แต่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A94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เล็กกว่า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4187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ข้อสังเกต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437083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Quality ดี แต่ราคา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สูงกว่า gpt-4o-mini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~2× สำหรับ use case นี้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ความรู้และทักษะที่ได้จากโปรเจกต์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402336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16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 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AWS-Style RBAC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7739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Groups + Individual Policies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group membership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Most-permissive-wins · Redis ACL cache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permission computation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4023360" cy="64008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16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Multi-Instance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Bridge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739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adapter สำหรับ horizontal 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ข้าม ECS task ได้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Room-based isolation per table session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402336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Webhook Idempotency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Locking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027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UNIQUE(gateway_tx_id) + FOR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double-credit จาก retry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pattern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719072"/>
          </a:xfrm>
          <a:prstGeom prst="rect">
            <a:avLst>
              <a:gd name="adj" fmla="val 3723"/>
            </a:avLst>
          </a:prstGeom>
          <a:solidFill>
            <a:srgbClr val="1E2535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4023360" cy="64008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on Redis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60273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tasks: receipt gen, push notify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NestJS process — BullMQ processor (resilient via job retry)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Secure Coding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0292" cy="594360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430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Rotation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399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15min · refresh: 7d · rotate on use · revoke on logout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50292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65376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9110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Permission-Gated Mutations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1671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PIN required · server-side guard · no client bypass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50292" cy="5943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33472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79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352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 table · changed_fields jsonb · actor_id · application-enforced append-only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50292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01568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447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Idempotency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033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UNIQUE(gateway_tx_id) · SELECT … FOR UPDATE · idempotency key prevents duplicates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50292" cy="594360"/>
          </a:xfrm>
          <a:prstGeom prst="rect">
            <a:avLst/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69664"/>
            <a:ext cx="8275320" cy="594360"/>
          </a:xfrm>
          <a:prstGeom prst="rect">
            <a:avLst>
              <a:gd name="adj" fmla="val 7692"/>
            </a:avLst>
          </a:prstGeom>
          <a:solidFill>
            <a:srgbClr val="161C27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153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Data Anonymization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47141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6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anonymize-not-delete · visit stays · customer.name → null · right to erasure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4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Gantt Chart · ส.ค. 2569 – เม.ย. 2570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78408"/>
            <a:ext cx="841248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ส.ค.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04800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ก.ย.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6428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428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ต.ค.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พ.ย.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9684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684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ธ.ค.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1312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ม.ค.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2940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ก.พ.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34568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มี.ค.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61960" y="1115568"/>
            <a:ext cx="716280" cy="3547872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1960" y="1115568"/>
            <a:ext cx="71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เม.ย.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96840" y="1115568"/>
            <a:ext cx="16459" cy="3547872"/>
          </a:xfrm>
          <a:prstGeom prst="rect">
            <a:avLst/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19600" y="440740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S1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251704" y="440740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▶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31720" y="1435608"/>
            <a:ext cx="1074420" cy="274320"/>
          </a:xfrm>
          <a:prstGeom prst="rect">
            <a:avLst>
              <a:gd name="adj" fmla="val 10000"/>
            </a:avLst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68296" y="1435608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+ ERD + Infra + Modules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513582" y="1755648"/>
            <a:ext cx="179070" cy="274320"/>
          </a:xfrm>
          <a:prstGeom prst="rect">
            <a:avLst>
              <a:gd name="adj" fmla="val 1531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13582" y="2075688"/>
            <a:ext cx="179070" cy="274320"/>
          </a:xfrm>
          <a:prstGeom prst="rect">
            <a:avLst>
              <a:gd name="adj" fmla="val 1531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2652" y="2395728"/>
            <a:ext cx="322326" cy="274320"/>
          </a:xfrm>
          <a:prstGeom prst="rect">
            <a:avLst>
              <a:gd name="adj" fmla="val 1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4978" y="2715768"/>
            <a:ext cx="179070" cy="274320"/>
          </a:xfrm>
          <a:prstGeom prst="rect">
            <a:avLst>
              <a:gd name="adj" fmla="val 1531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4048" y="3035808"/>
            <a:ext cx="179070" cy="274320"/>
          </a:xfrm>
          <a:prstGeom prst="rect">
            <a:avLst>
              <a:gd name="adj" fmla="val 15319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94048" y="3355848"/>
            <a:ext cx="179070" cy="274320"/>
          </a:xfrm>
          <a:prstGeom prst="rect">
            <a:avLst>
              <a:gd name="adj" fmla="val 15319"/>
            </a:avLst>
          </a:prstGeom>
          <a:solidFill>
            <a:srgbClr val="9D7FD4"/>
          </a:solidFill>
          <a:ln w="12700">
            <a:solidFill>
              <a:srgbClr val="9D7F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3118" y="3675888"/>
            <a:ext cx="157582" cy="274320"/>
          </a:xfrm>
          <a:prstGeom prst="rect">
            <a:avLst>
              <a:gd name="adj" fmla="val 17408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0700" y="3675888"/>
            <a:ext cx="666140" cy="274320"/>
          </a:xfrm>
          <a:prstGeom prst="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7276" y="3675888"/>
            <a:ext cx="592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196840" y="3995928"/>
            <a:ext cx="1432560" cy="274320"/>
          </a:xfrm>
          <a:prstGeom prst="rect">
            <a:avLst>
              <a:gd name="adj" fmla="val 10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33416" y="3995928"/>
            <a:ext cx="135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Guest Intelligence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629400" y="3995928"/>
            <a:ext cx="1074420" cy="274320"/>
          </a:xfrm>
          <a:prstGeom prst="rect">
            <a:avLst>
              <a:gd name="adj" fmla="val 10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5976" y="3995928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7703820" y="3995928"/>
            <a:ext cx="716280" cy="274320"/>
          </a:xfrm>
          <a:prstGeom prst="rect">
            <a:avLst>
              <a:gd name="adj" fmla="val 10000"/>
            </a:avLst>
          </a:prstGeom>
          <a:solidFill>
            <a:srgbClr val="C45858"/>
          </a:solidFill>
          <a:ln w="12700">
            <a:solidFill>
              <a:srgbClr val="C458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40396" y="3995928"/>
            <a:ext cx="64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Final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182880" y="1435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Arch/Infra/ERD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37360" y="149047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37360" y="14904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44" name="Text 42"/>
          <p:cNvSpPr txBox="1"/>
          <p:nvPr/>
        </p:nvSpPr>
        <p:spPr>
          <a:xfrm>
            <a:off x="182880" y="1755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737360" y="181051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37360" y="18105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47" name="Text 45"/>
          <p:cNvSpPr txBox="1"/>
          <p:nvPr/>
        </p:nvSpPr>
        <p:spPr>
          <a:xfrm>
            <a:off x="182880" y="20756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737360" y="213055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737360" y="21305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0" name="Text 48"/>
          <p:cNvSpPr txBox="1"/>
          <p:nvPr/>
        </p:nvSpPr>
        <p:spPr>
          <a:xfrm>
            <a:off x="182880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IAM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737360" y="245059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737360" y="24505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984248" y="245059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984248" y="24505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182880" y="2715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737360" y="277063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737360" y="27706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984248" y="277063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984248" y="27706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60" name="Text 58"/>
          <p:cNvSpPr txBox="1"/>
          <p:nvPr/>
        </p:nvSpPr>
        <p:spPr>
          <a:xfrm>
            <a:off x="18288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737360" y="309067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737360" y="30906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63" name="Text 61"/>
          <p:cNvSpPr txBox="1"/>
          <p:nvPr/>
        </p:nvSpPr>
        <p:spPr>
          <a:xfrm>
            <a:off x="182880" y="3355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Keep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737360" y="341071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737360" y="34107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984248" y="341071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984248" y="34107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68" name="Text 66"/>
          <p:cNvSpPr txBox="1"/>
          <p:nvPr/>
        </p:nvSpPr>
        <p:spPr>
          <a:xfrm>
            <a:off x="182880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Payment·Dash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737360" y="373075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737360" y="37307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1984248" y="373075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84248" y="37307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73" name="Text 71"/>
          <p:cNvSpPr txBox="1"/>
          <p:nvPr/>
        </p:nvSpPr>
        <p:spPr>
          <a:xfrm>
            <a:off x="182880" y="39959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AI+Anal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737360" y="4050792"/>
            <a:ext cx="219456" cy="164592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737360" y="40507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1984248" y="4050792"/>
            <a:ext cx="219456" cy="164592"/>
          </a:xfrm>
          <a:prstGeom prst="rect">
            <a:avLst>
              <a:gd name="adj" fmla="val 11111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984248" y="40507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365760" y="4754880"/>
            <a:ext cx="109728" cy="109728"/>
          </a:xfrm>
          <a:prstGeom prst="rect">
            <a:avLst/>
          </a:prstGeom>
          <a:solidFill>
            <a:srgbClr val="4B7FA6"/>
          </a:solidFill>
          <a:ln w="12700">
            <a:solidFill>
              <a:srgbClr val="4B7FA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12064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Arch/Infra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609344" y="4754880"/>
            <a:ext cx="109728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755648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+ API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852928" y="4754880"/>
            <a:ext cx="109728" cy="10972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999232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Auth+IAM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096512" y="4754880"/>
            <a:ext cx="109728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242816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340096" y="4754880"/>
            <a:ext cx="109728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486400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BK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583680" y="4754880"/>
            <a:ext cx="109728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729984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Pay+Dash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827264" y="4754880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973568" y="473659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AI+Test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65760" y="4956048"/>
            <a:ext cx="219456" cy="137160"/>
          </a:xfrm>
          <a:prstGeom prst="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65760" y="495604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600" dirty="0"/>
          </a:p>
        </p:txBody>
      </p:sp>
      <p:sp>
        <p:nvSpPr>
          <p:cNvPr id="94" name="Text 92"/>
          <p:cNvSpPr txBox="1"/>
          <p:nvPr/>
        </p:nvSpPr>
        <p:spPr>
          <a:xfrm>
            <a:off x="621792" y="49469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= ณัฐวัฒน์ จิรกุลประดิษฐ์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291840" y="4956048"/>
            <a:ext cx="219456" cy="137160"/>
          </a:xfrm>
          <a:prstGeom prst="rect">
            <a:avLst>
              <a:gd name="adj" fmla="val 13333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291840" y="495604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600" dirty="0"/>
          </a:p>
        </p:txBody>
      </p:sp>
      <p:sp>
        <p:nvSpPr>
          <p:cNvPr id="97" name="Text 95"/>
          <p:cNvSpPr txBox="1"/>
          <p:nvPr/>
        </p:nvSpPr>
        <p:spPr>
          <a:xfrm>
            <a:off x="3547872" y="49469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= เมธี สิริปาณสาร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ขอบคุณที่รับฟัง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2724912"/>
            <a:ext cx="4572000" cy="16459"/>
          </a:xfrm>
          <a:prstGeom prst="rect">
            <a:avLst/>
          </a:prstGeom>
          <a:solidFill>
            <a:srgbClr val="252D3F"/>
          </a:solidFill>
          <a:ln w="12700">
            <a:solidFill>
              <a:srgbClr val="252D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Bar Management System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ณัฐวัฒน์ จิรกุลประดิษฐ์ (66210096)  ·  เมธี สิริปาณสาร (630107030019)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65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อาจารย์ที่ปรึกษา: อ.สนายุ จินตนาวรรณกุล  ·  Computer Engineering, DPU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72768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2768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42616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42616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12464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12464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82312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52160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Prime Pay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22008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2008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SSO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91856" y="4023360"/>
            <a:ext cx="987552" cy="256032"/>
          </a:xfrm>
          <a:prstGeom prst="rect">
            <a:avLst>
              <a:gd name="adj" fmla="val 21429"/>
            </a:avLst>
          </a:prstGeom>
          <a:solidFill>
            <a:srgbClr val="1E2535"/>
          </a:solidFill>
          <a:ln w="6350">
            <a:solidFill>
              <a:srgbClr val="252D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91856" y="4023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AWS (ECS / RDS / ElastiCache / S3) · Tailwind CSS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F472B6"/>
                </a:solidFill>
                <a:latin typeface="Calibri" pitchFamily="34" charset="0"/>
              </a:rPr>
              <a:t>ERD · Part 2/8 · Guest &amp; Identity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customer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display_name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notes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anonymized_at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832354"/>
            <a:ext cx="428853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customer_identity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customer_id (FK → customer)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provider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external_id (nullable — PDPA)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profile_json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</a:t>
            </a:r>
          </a:p>
        </p:txBody>
      </p:sp>
      <p:sp>
        <p:nvSpPr>
          <p:cNvPr id="15" name="bg15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visit</a:t>
            </a:r>
          </a:p>
        </p:txBody>
      </p:sp>
      <p:sp>
        <p:nvSpPr>
          <p:cNvPr id="17" name="bg17"/>
          <p:cNvSpPr/>
          <p:nvPr/>
        </p:nvSpPr>
        <p:spPr>
          <a:xfrm>
            <a:off x="4654296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4709160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customer_id (FK → customer)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table_seat_id (FK → table_seat)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state (open|active|idle|closed|abandoned)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started_at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closed_at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2832354"/>
            <a:ext cx="4288536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customer_consent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customer_id (FK → customer, UNIQUE)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data_consent (BOOL)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marketing_consent (BOOL)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consented_at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updated_at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FB923C"/>
                </a:solidFill>
                <a:latin typeface="Calibri" pitchFamily="34" charset="0"/>
              </a:rPr>
              <a:t>ERD · Part 3/8 · Staff IAM — Users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staff_user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display_name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pin_hash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is_active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832354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staff_user_identity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user_id (FK → staff_user)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provider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external_id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profile_json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</a:t>
            </a:r>
          </a:p>
        </p:txBody>
      </p:sp>
      <p:sp>
        <p:nvSpPr>
          <p:cNvPr id="15" name="bg15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staff_group</a:t>
            </a:r>
          </a:p>
        </p:txBody>
      </p:sp>
      <p:sp>
        <p:nvSpPr>
          <p:cNvPr id="17" name="bg17"/>
          <p:cNvSpPr/>
          <p:nvPr/>
        </p:nvSpPr>
        <p:spPr>
          <a:xfrm>
            <a:off x="4654296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4709160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description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2832354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user_group_membership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user_id (FK → staff_user)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group_id (FK → staff_group)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valid_from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valid_until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FB923C"/>
                </a:solidFill>
                <a:latin typeface="Calibri" pitchFamily="34" charset="0"/>
              </a:rPr>
              <a:t>ERD · Part 4/8 · Staff IAM — Policies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policy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description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077212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077212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permission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2333244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2388108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resource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action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description</a:t>
            </a:r>
          </a:p>
        </p:txBody>
      </p:sp>
      <p:sp>
        <p:nvSpPr>
          <p:cNvPr id="15" name="bg15"/>
          <p:cNvSpPr/>
          <p:nvPr/>
        </p:nvSpPr>
        <p:spPr>
          <a:xfrm>
            <a:off x="201168" y="3587496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256032" y="3587496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policy_permission</a:t>
            </a:r>
          </a:p>
        </p:txBody>
      </p:sp>
      <p:sp>
        <p:nvSpPr>
          <p:cNvPr id="17" name="bg17"/>
          <p:cNvSpPr/>
          <p:nvPr/>
        </p:nvSpPr>
        <p:spPr>
          <a:xfrm>
            <a:off x="201168" y="3843528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256032" y="3898392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policy_id (FK → policy)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permission_id (FK → permission)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group_policy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group_id (FK → staff_group)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policy_id (FK → policy)</a:t>
            </a:r>
          </a:p>
        </p:txBody>
      </p:sp>
      <p:sp>
        <p:nvSpPr>
          <p:cNvPr id="23" name="bg23"/>
          <p:cNvSpPr/>
          <p:nvPr/>
        </p:nvSpPr>
        <p:spPr>
          <a:xfrm>
            <a:off x="4654296" y="2832354"/>
            <a:ext cx="428853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xt24"/>
          <p:cNvSpPr txBox="1"/>
          <p:nvPr/>
        </p:nvSpPr>
        <p:spPr>
          <a:xfrm>
            <a:off x="4709160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user_policy</a:t>
            </a:r>
          </a:p>
        </p:txBody>
      </p:sp>
      <p:sp>
        <p:nvSpPr>
          <p:cNvPr id="25" name="bg25"/>
          <p:cNvSpPr/>
          <p:nvPr/>
        </p:nvSpPr>
        <p:spPr>
          <a:xfrm>
            <a:off x="4654296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xt26"/>
          <p:cNvSpPr txBox="1"/>
          <p:nvPr/>
        </p:nvSpPr>
        <p:spPr>
          <a:xfrm>
            <a:off x="4709160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user_id (FK → staff_user)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policy_id (FK → policy)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4ADE80"/>
                </a:solidFill>
                <a:latin typeface="Calibri" pitchFamily="34" charset="0"/>
              </a:rPr>
              <a:t>ERD · Part 5/8 · Menu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menu_category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display_order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is_active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077212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077212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menu_item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2333244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2388108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category_id (FK → menu_category)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description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image_url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is_active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5" name="bg15"/>
          <p:cNvSpPr/>
          <p:nvPr/>
        </p:nvSpPr>
        <p:spPr>
          <a:xfrm>
            <a:off x="201168" y="3587496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256032" y="3587496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menu_item_variant</a:t>
            </a:r>
          </a:p>
        </p:txBody>
      </p:sp>
      <p:sp>
        <p:nvSpPr>
          <p:cNvPr id="17" name="bg17"/>
          <p:cNvSpPr/>
          <p:nvPr/>
        </p:nvSpPr>
        <p:spPr>
          <a:xfrm>
            <a:off x="201168" y="3843528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256032" y="3898392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item_id (FK → menu_item)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base_price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is_available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modifier_group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822960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877824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selection_type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min_select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max_select</a:t>
            </a:r>
          </a:p>
        </p:txBody>
      </p:sp>
      <p:sp>
        <p:nvSpPr>
          <p:cNvPr id="23" name="bg23"/>
          <p:cNvSpPr/>
          <p:nvPr/>
        </p:nvSpPr>
        <p:spPr>
          <a:xfrm>
            <a:off x="4654296" y="2077212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xt24"/>
          <p:cNvSpPr txBox="1"/>
          <p:nvPr/>
        </p:nvSpPr>
        <p:spPr>
          <a:xfrm>
            <a:off x="4709160" y="2077212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modifier_option</a:t>
            </a:r>
          </a:p>
        </p:txBody>
      </p:sp>
      <p:sp>
        <p:nvSpPr>
          <p:cNvPr id="25" name="bg25"/>
          <p:cNvSpPr/>
          <p:nvPr/>
        </p:nvSpPr>
        <p:spPr>
          <a:xfrm>
            <a:off x="4654296" y="2333244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xt26"/>
          <p:cNvSpPr txBox="1"/>
          <p:nvPr/>
        </p:nvSpPr>
        <p:spPr>
          <a:xfrm>
            <a:off x="4709160" y="2388108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group_id (FK → modifier_group)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price_delta</a:t>
            </a:r>
          </a:p>
        </p:txBody>
      </p:sp>
      <p:sp>
        <p:nvSpPr>
          <p:cNvPr id="27" name="bg27"/>
          <p:cNvSpPr/>
          <p:nvPr/>
        </p:nvSpPr>
        <p:spPr>
          <a:xfrm>
            <a:off x="4654296" y="3587496"/>
            <a:ext cx="4288536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xt28"/>
          <p:cNvSpPr txBox="1"/>
          <p:nvPr/>
        </p:nvSpPr>
        <p:spPr>
          <a:xfrm>
            <a:off x="4709160" y="3587496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menu_variant_modifier_group</a:t>
            </a:r>
          </a:p>
        </p:txBody>
      </p:sp>
      <p:sp>
        <p:nvSpPr>
          <p:cNvPr id="29" name="bg29"/>
          <p:cNvSpPr/>
          <p:nvPr/>
        </p:nvSpPr>
        <p:spPr>
          <a:xfrm>
            <a:off x="4654296" y="3843528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xt30"/>
          <p:cNvSpPr txBox="1"/>
          <p:nvPr/>
        </p:nvSpPr>
        <p:spPr>
          <a:xfrm>
            <a:off x="4709160" y="3898392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variant_id (FK → menu_item_variant)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group_id (FK → modifier_group)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— join table (no surrogate PK)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D4A843"/>
                </a:solidFill>
                <a:latin typeface="Calibri" pitchFamily="34" charset="0"/>
              </a:rPr>
              <a:t>ERD · Part 6/8 · Inventory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inventory_item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unit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reorder_threshold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832354"/>
            <a:ext cx="4288536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menu_variant_ingredient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variant_id (FK → menu_item_variant)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item_id (FK → inventory_item)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quantity_used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— join table</a:t>
            </a:r>
          </a:p>
        </p:txBody>
      </p:sp>
      <p:sp>
        <p:nvSpPr>
          <p:cNvPr id="15" name="bg15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inventory_transaction</a:t>
            </a:r>
          </a:p>
        </p:txBody>
      </p:sp>
      <p:sp>
        <p:nvSpPr>
          <p:cNvPr id="17" name="bg17"/>
          <p:cNvSpPr/>
          <p:nvPr/>
        </p:nvSpPr>
        <p:spPr>
          <a:xfrm>
            <a:off x="4654296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4709160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item_id (FK → inventory_item)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quantity_delta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reason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reference_id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created_by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2832354"/>
            <a:ext cx="4288536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restock_request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inventory_item_id (FK)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notes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status (pending|acknowledged|fulfilled)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created_by / updated_by (FK → staff_user)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2DD4BF"/>
                </a:solidFill>
                <a:latin typeface="Calibri" pitchFamily="34" charset="0"/>
              </a:rPr>
              <a:t>ERD · Part 7/8 · Orders &amp; Payment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14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order_record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visit_id (FK → visit)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state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total_amount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201168" y="2077212"/>
            <a:ext cx="4288536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256032" y="2077212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order_item</a:t>
            </a:r>
          </a:p>
        </p:txBody>
      </p:sp>
      <p:sp>
        <p:nvSpPr>
          <p:cNvPr id="13" name="bg13"/>
          <p:cNvSpPr/>
          <p:nvPr/>
        </p:nvSpPr>
        <p:spPr>
          <a:xfrm>
            <a:off x="201168" y="2333244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256032" y="2388108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order_id (FK → order_record)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variant_id (FK → menu_item_variant)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quantity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unit_price_snapshot (frozen)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ordered_by_name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notes</a:t>
            </a:r>
          </a:p>
        </p:txBody>
      </p:sp>
      <p:sp>
        <p:nvSpPr>
          <p:cNvPr id="15" name="bg15"/>
          <p:cNvSpPr/>
          <p:nvPr/>
        </p:nvSpPr>
        <p:spPr>
          <a:xfrm>
            <a:off x="201168" y="3587496"/>
            <a:ext cx="4288536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xt16"/>
          <p:cNvSpPr txBox="1"/>
          <p:nvPr/>
        </p:nvSpPr>
        <p:spPr>
          <a:xfrm>
            <a:off x="256032" y="3587496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order_item_modifier</a:t>
            </a:r>
          </a:p>
        </p:txBody>
      </p:sp>
      <p:sp>
        <p:nvSpPr>
          <p:cNvPr id="17" name="bg17"/>
          <p:cNvSpPr/>
          <p:nvPr/>
        </p:nvSpPr>
        <p:spPr>
          <a:xfrm>
            <a:off x="201168" y="3843528"/>
            <a:ext cx="4288536" cy="11628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xt18"/>
          <p:cNvSpPr txBox="1"/>
          <p:nvPr/>
        </p:nvSpPr>
        <p:spPr>
          <a:xfrm>
            <a:off x="256032" y="3898392"/>
            <a:ext cx="4178808" cy="1053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order_item_id (FK → order_item)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option_id (FK → modifier_option)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price_snapshot</a:t>
            </a:r>
          </a:p>
        </p:txBody>
      </p:sp>
      <p:sp>
        <p:nvSpPr>
          <p:cNvPr id="19" name="bg19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xt20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payment</a:t>
            </a:r>
          </a:p>
        </p:txBody>
      </p:sp>
      <p:sp>
        <p:nvSpPr>
          <p:cNvPr id="21" name="bg21"/>
          <p:cNvSpPr/>
          <p:nvPr/>
        </p:nvSpPr>
        <p:spPr>
          <a:xfrm>
            <a:off x="4654296" y="822960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xt22"/>
          <p:cNvSpPr txBox="1"/>
          <p:nvPr/>
        </p:nvSpPr>
        <p:spPr>
          <a:xfrm>
            <a:off x="4709160" y="877824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visit_id (FK → visit)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amount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method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state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paid_at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gateway_tx_id (UNIQUE — idempotency key)</a:t>
            </a:r>
          </a:p>
        </p:txBody>
      </p:sp>
      <p:sp>
        <p:nvSpPr>
          <p:cNvPr id="23" name="bg23"/>
          <p:cNvSpPr/>
          <p:nvPr/>
        </p:nvSpPr>
        <p:spPr>
          <a:xfrm>
            <a:off x="4654296" y="2832354"/>
            <a:ext cx="4288536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xt24"/>
          <p:cNvSpPr txBox="1"/>
          <p:nvPr/>
        </p:nvSpPr>
        <p:spPr>
          <a:xfrm>
            <a:off x="4709160" y="2832354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payment_order</a:t>
            </a:r>
          </a:p>
        </p:txBody>
      </p:sp>
      <p:sp>
        <p:nvSpPr>
          <p:cNvPr id="25" name="bg25"/>
          <p:cNvSpPr/>
          <p:nvPr/>
        </p:nvSpPr>
        <p:spPr>
          <a:xfrm>
            <a:off x="4654296" y="3088386"/>
            <a:ext cx="4288536" cy="191795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xt26"/>
          <p:cNvSpPr txBox="1"/>
          <p:nvPr/>
        </p:nvSpPr>
        <p:spPr>
          <a:xfrm>
            <a:off x="4709160" y="3143250"/>
            <a:ext cx="4178808" cy="1808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payment_id (FK → payment)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order_id (FK → order_record)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— join table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g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D7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t5"/>
          <p:cNvSpPr txBox="1"/>
          <p:nvPr/>
        </p:nvSpPr>
        <p:spPr>
          <a:xfrm>
            <a:off x="228600" y="731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b="1" dirty="0">
                <a:solidFill>
                  <a:srgbClr val="9D7FD4"/>
                </a:solidFill>
                <a:latin typeface="Calibri" pitchFamily="34" charset="0"/>
              </a:rPr>
              <a:t>ERD · Part 8/8 · Bottle Keep &amp; Audit</a:t>
            </a:r>
          </a:p>
        </p:txBody>
      </p:sp>
      <p:sp>
        <p:nvSpPr>
          <p:cNvPr id="6" name="txt6"/>
          <p:cNvSpPr txBox="1"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9A9486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7" name="bg7"/>
          <p:cNvSpPr/>
          <p:nvPr/>
        </p:nvSpPr>
        <p:spPr>
          <a:xfrm>
            <a:off x="201168" y="566928"/>
            <a:ext cx="4288536" cy="256032"/>
          </a:xfrm>
          <a:prstGeom prst="rect">
            <a:avLst/>
          </a:prstGeom>
          <a:solidFill>
            <a:srgbClr val="9D7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xt8"/>
          <p:cNvSpPr txBox="1"/>
          <p:nvPr/>
        </p:nvSpPr>
        <p:spPr>
          <a:xfrm>
            <a:off x="256032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bottle_keep</a:t>
            </a:r>
          </a:p>
        </p:txBody>
      </p:sp>
      <p:sp>
        <p:nvSpPr>
          <p:cNvPr id="9" name="bg9"/>
          <p:cNvSpPr/>
          <p:nvPr/>
        </p:nvSpPr>
        <p:spPr>
          <a:xfrm>
            <a:off x="201168" y="822960"/>
            <a:ext cx="4288536" cy="41833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xt10"/>
          <p:cNvSpPr txBox="1"/>
          <p:nvPr/>
        </p:nvSpPr>
        <p:spPr>
          <a:xfrm>
            <a:off x="256032" y="877824"/>
            <a:ext cx="4178808" cy="4073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customer_id (FK → customer)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item_id (FK → inventory_item)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label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remaining_quantity (integer units)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remaining_note (free text)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expires_at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state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/ updated_at</a:t>
            </a:r>
          </a:p>
        </p:txBody>
      </p:sp>
      <p:sp>
        <p:nvSpPr>
          <p:cNvPr id="11" name="bg11"/>
          <p:cNvSpPr/>
          <p:nvPr/>
        </p:nvSpPr>
        <p:spPr>
          <a:xfrm>
            <a:off x="4654296" y="566928"/>
            <a:ext cx="4288536" cy="256032"/>
          </a:xfrm>
          <a:prstGeom prst="rect">
            <a:avLst/>
          </a:prstGeom>
          <a:solidFill>
            <a:srgbClr val="9D7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xt12"/>
          <p:cNvSpPr txBox="1"/>
          <p:nvPr/>
        </p:nvSpPr>
        <p:spPr>
          <a:xfrm>
            <a:off x="4709160" y="566928"/>
            <a:ext cx="41788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0D1117"/>
                </a:solidFill>
                <a:latin typeface="Calibri" pitchFamily="34" charset="0"/>
              </a:rPr>
              <a:t>audit_log</a:t>
            </a:r>
          </a:p>
        </p:txBody>
      </p:sp>
      <p:sp>
        <p:nvSpPr>
          <p:cNvPr id="13" name="bg13"/>
          <p:cNvSpPr/>
          <p:nvPr/>
        </p:nvSpPr>
        <p:spPr>
          <a:xfrm>
            <a:off x="4654296" y="822960"/>
            <a:ext cx="4288536" cy="41833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xt14"/>
          <p:cNvSpPr txBox="1"/>
          <p:nvPr/>
        </p:nvSpPr>
        <p:spPr>
          <a:xfrm>
            <a:off x="4709160" y="877824"/>
            <a:ext cx="4178808" cy="4073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🔑 id (PK)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table_name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record_id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action (INSERT|UPDATE|DELETE)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actor_id (FK → staff_user)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changed_fields (JSONB)</a:t>
            </a:r>
          </a:p>
          <a:p>
            <a:pPr indent="0" marL="0">
              <a:buNone/>
            </a:pPr>
            <a:r>
              <a:rPr lang="th-TH" altLang="en-US" sz="750" dirty="0">
                <a:solidFill>
                  <a:srgbClr val="C8C4BC"/>
                </a:solidFill>
                <a:latin typeface="Calibri" pitchFamily="34" charset="0"/>
              </a:rPr>
              <a:t>  created_at — append-only; never UPDATE/DELETE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Bar Management System</dc:title>
  <dc:subject>PptxGenJS Presentation</dc:subject>
  <dc:creator>PptxGenJS</dc:creator>
  <cp:lastModifiedBy>PptxGenJS</cp:lastModifiedBy>
  <cp:revision>1</cp:revision>
  <dcterms:created xsi:type="dcterms:W3CDTF">2026-09-21T17:35:51Z</dcterms:created>
  <dcterms:modified xsi:type="dcterms:W3CDTF">2026-09-21T17:35:51Z</dcterms:modified>
</cp:coreProperties>
</file>