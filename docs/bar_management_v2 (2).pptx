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4A84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ระบบจัดการบาร์ด้วย AI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40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9A9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Bar Management System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286000" y="2697480"/>
            <a:ext cx="4572000" cy="16459"/>
          </a:xfrm>
          <a:prstGeom prst="rect">
            <a:avLst/>
          </a:prstGeom>
          <a:solidFill>
            <a:srgbClr val="252D3F"/>
          </a:solidFill>
          <a:ln w="12700">
            <a:solidFill>
              <a:srgbClr val="252D3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834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4D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ณัฐวัฒน์ จิรกุลประดิษฐ์  (66210096)  —  Tech Lead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127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4D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เมธี สิริปาณสาร  (630107030019)  —  Frontend Dev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4930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65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อาจารย์ที่ปรึกษา: อ.สนายุ จินตนาวรรณกุล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794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65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ปีการศึกษา 2569  ·  กำหนดส่ง เม.ย. 2570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Engineering  ·  Dhurakij Pundit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645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38404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4D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ที่มาของโปรเจกต์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978408"/>
            <a:ext cx="8412480" cy="16459"/>
          </a:xfrm>
          <a:prstGeom prst="rect">
            <a:avLst/>
          </a:prstGeom>
          <a:solidFill>
            <a:srgbClr val="252D3F"/>
          </a:solidFill>
          <a:ln w="12700">
            <a:solidFill>
              <a:srgbClr val="252D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43000"/>
            <a:ext cx="54864" cy="1005840"/>
          </a:xfrm>
          <a:prstGeom prst="rect">
            <a:avLst/>
          </a:prstGeom>
          <a:solidFill>
            <a:srgbClr val="4B7FA6"/>
          </a:solidFill>
          <a:ln w="12700">
            <a:solidFill>
              <a:srgbClr val="4B7F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143000"/>
            <a:ext cx="8275320" cy="1005840"/>
          </a:xfrm>
          <a:prstGeom prst="rect">
            <a:avLst>
              <a:gd name="adj" fmla="val 5455"/>
            </a:avLst>
          </a:prstGeom>
          <a:solidFill>
            <a:srgbClr val="1E2535"/>
          </a:solidFill>
          <a:ln w="6350">
            <a:solidFill>
              <a:srgbClr val="252D3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23444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7FA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🔬  Field Research จาก 2 ร้านจริง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155448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ทีมลงพื้นที่สังเกตการทำงานจริงของบาร์ขนาดเล็ก-กลางในไทย พบปัญหาซ้ำกันในเรื่อง payment, inventory และ customer experience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377440"/>
            <a:ext cx="54864" cy="100584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377440"/>
            <a:ext cx="8275320" cy="1005840"/>
          </a:xfrm>
          <a:prstGeom prst="rect">
            <a:avLst>
              <a:gd name="adj" fmla="val 5455"/>
            </a:avLst>
          </a:prstGeom>
          <a:solidFill>
            <a:srgbClr val="1E2535"/>
          </a:solidFill>
          <a:ln w="6350">
            <a:solidFill>
              <a:srgbClr val="252D3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246888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🎬  The Bear-Style Guest Intelligence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278892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ได้แรงบันดาลใจจาก The Bear (FX) — บาร์เทนเดอร์ที่รู้จักลูกค้าทุกคน รู้ preference รู้ประวัติ และ deliver personalized experience ได้ทันที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611880"/>
            <a:ext cx="54864" cy="1005840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3611880"/>
            <a:ext cx="8275320" cy="1005840"/>
          </a:xfrm>
          <a:prstGeom prst="rect">
            <a:avLst>
              <a:gd name="adj" fmla="val 5455"/>
            </a:avLst>
          </a:prstGeom>
          <a:solidFill>
            <a:srgbClr val="1E2535"/>
          </a:solidFill>
          <a:ln w="6350">
            <a:solidFill>
              <a:srgbClr val="252D3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370332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8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🇹🇭  Thai Bar Culture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402336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Bottle Keep, PromptPay, Counter Seating คือบริบทเฉพาะของบาร์ไทยที่ระบบจากต่างประเทศไม่รองรับ — เราสร้างระบบที่ออกแบบมาเพื่อสิ่งเหล่านี้โดยตรง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4B7FA6"/>
          </a:solidFill>
          <a:ln w="12700">
            <a:solidFill>
              <a:srgbClr val="4B7F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645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38404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4D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Field Research — บรรยากาศจริงที่ลงพื้นที่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978408"/>
            <a:ext cx="8412480" cy="16459"/>
          </a:xfrm>
          <a:prstGeom prst="rect">
            <a:avLst/>
          </a:prstGeom>
          <a:solidFill>
            <a:srgbClr val="252D3F"/>
          </a:solidFill>
          <a:ln w="12700">
            <a:solidFill>
              <a:srgbClr val="252D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97280"/>
            <a:ext cx="5029200" cy="3474720"/>
          </a:xfrm>
          <a:prstGeom prst="rect">
            <a:avLst>
              <a:gd name="adj" fmla="val 1842"/>
            </a:avLst>
          </a:prstGeom>
          <a:solidFill>
            <a:srgbClr val="1E2535"/>
          </a:solidFill>
          <a:ln w="12700">
            <a:solidFill>
              <a:srgbClr val="4B7FA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5760" y="20116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2834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65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[ ใส่รูปบรรยากาศบาร์ ]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65760" y="42976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65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บรรยากาศ counter bar ในไทย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577840" y="1097280"/>
            <a:ext cx="3200400" cy="3474720"/>
          </a:xfrm>
          <a:prstGeom prst="rect">
            <a:avLst>
              <a:gd name="adj" fmla="val 2000"/>
            </a:avLst>
          </a:prstGeom>
          <a:solidFill>
            <a:srgbClr val="161C27"/>
          </a:solidFill>
          <a:ln w="6350">
            <a:solidFill>
              <a:srgbClr val="252D3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715000" y="1188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7FA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สิ่งที่สังเกตเห็นจากพื้นที่จริง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71500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1600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ลูกค้าส่งสลิปทาง LINE — staff ตรวจเองไม่มีระบบ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5715000" y="2075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126480" y="207568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ใช้กระดาษจดออเดอร์ — ผิดพลาด บ่อย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5715000" y="25511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🍾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126480" y="255117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Bottle Keep บันทึกใน Excel หรือ notebook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5715000" y="3026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😕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126480" y="302666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Staff ไม่รู้จักลูกค้าประจำ — ถามซ้ำทุกครั้ง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5715000" y="3502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126480" y="350215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ไม่รู้สต็อกเหลือเท่าไหร่ — ของหมดกลางดึก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5715000" y="3977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126480" y="3977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คำนวณบิลปลายคืนช้า — queue ยาว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45858"/>
          </a:solidFill>
          <a:ln w="12700">
            <a:solidFill>
              <a:srgbClr val="C4585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645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38404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4D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ปัญหาที่พบ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978408"/>
            <a:ext cx="8412480" cy="16459"/>
          </a:xfrm>
          <a:prstGeom prst="rect">
            <a:avLst/>
          </a:prstGeom>
          <a:solidFill>
            <a:srgbClr val="252D3F"/>
          </a:solidFill>
          <a:ln w="12700">
            <a:solidFill>
              <a:srgbClr val="252D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97280"/>
            <a:ext cx="4114800" cy="1508760"/>
          </a:xfrm>
          <a:prstGeom prst="rect">
            <a:avLst>
              <a:gd name="adj" fmla="val 4242"/>
            </a:avLst>
          </a:prstGeom>
          <a:solidFill>
            <a:srgbClr val="1E2535"/>
          </a:solidFill>
          <a:ln w="6350">
            <a:solidFill>
              <a:srgbClr val="252D3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1234440"/>
            <a:ext cx="1005840" cy="219456"/>
          </a:xfrm>
          <a:prstGeom prst="rect">
            <a:avLst>
              <a:gd name="adj" fmla="val 16667"/>
            </a:avLst>
          </a:prstGeom>
          <a:solidFill>
            <a:srgbClr val="C45858"/>
          </a:solidFill>
          <a:ln w="12700">
            <a:solidFill>
              <a:srgbClr val="C4585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30352" y="123444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530352" y="150876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4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Payment Slip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30352" y="1847088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ลูกค้าปลอมสลิปโอนเงินเพื่อหนีไม่จ่าย — ไม่มีระบบตรวจสอบ webhook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097280"/>
            <a:ext cx="4114800" cy="1508760"/>
          </a:xfrm>
          <a:prstGeom prst="rect">
            <a:avLst>
              <a:gd name="adj" fmla="val 4242"/>
            </a:avLst>
          </a:prstGeom>
          <a:solidFill>
            <a:srgbClr val="1E2535"/>
          </a:solidFill>
          <a:ln w="6350">
            <a:solidFill>
              <a:srgbClr val="252D3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28032" y="1234440"/>
            <a:ext cx="1005840" cy="219456"/>
          </a:xfrm>
          <a:prstGeom prst="rect">
            <a:avLst>
              <a:gd name="adj" fmla="val 16667"/>
            </a:avLst>
          </a:prstGeom>
          <a:solidFill>
            <a:srgbClr val="4B7FA6"/>
          </a:solidFill>
          <a:ln w="12700">
            <a:solidFill>
              <a:srgbClr val="4B7FA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28032" y="123444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4828032" y="150876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4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Customer Memory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828032" y="1847088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ไม่มีประวัติลูกค้า ไม่รู้ preference ไม่รู้ allergen — ทุกครั้งต้องถามใหม่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743200"/>
            <a:ext cx="4114800" cy="1508760"/>
          </a:xfrm>
          <a:prstGeom prst="rect">
            <a:avLst>
              <a:gd name="adj" fmla="val 4242"/>
            </a:avLst>
          </a:prstGeom>
          <a:solidFill>
            <a:srgbClr val="1E2535"/>
          </a:solidFill>
          <a:ln w="6350">
            <a:solidFill>
              <a:srgbClr val="252D3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0352" y="2880360"/>
            <a:ext cx="1005840" cy="219456"/>
          </a:xfrm>
          <a:prstGeom prst="rect">
            <a:avLst>
              <a:gd name="adj" fmla="val 16667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30352" y="288036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530352" y="315468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4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Tools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30352" y="3493008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ใช้ Line, กระดาษ, Excel คนละอัน — ข้อมูลกระจัดกระจาย ผิดพลาดบ่อย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2743200"/>
            <a:ext cx="4114800" cy="1508760"/>
          </a:xfrm>
          <a:prstGeom prst="rect">
            <a:avLst>
              <a:gd name="adj" fmla="val 4242"/>
            </a:avLst>
          </a:prstGeom>
          <a:solidFill>
            <a:srgbClr val="1E2535"/>
          </a:solidFill>
          <a:ln w="6350">
            <a:solidFill>
              <a:srgbClr val="252D3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28032" y="2880360"/>
            <a:ext cx="1005840" cy="219456"/>
          </a:xfrm>
          <a:prstGeom prst="rect">
            <a:avLst>
              <a:gd name="adj" fmla="val 16667"/>
            </a:avLst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28032" y="288036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4828032" y="315468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4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Inventory Track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828032" y="3493008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ไม่รู้ว่าสต็อกเหลือเท่าไหร่ — ของหมดกลางงาน หรือ cost เกินโดยไม่รู้ตัว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645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38404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4D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วิธีแก้ปัญหา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978408"/>
            <a:ext cx="8412480" cy="16459"/>
          </a:xfrm>
          <a:prstGeom prst="rect">
            <a:avLst/>
          </a:prstGeom>
          <a:solidFill>
            <a:srgbClr val="252D3F"/>
          </a:solidFill>
          <a:ln w="12700">
            <a:solidFill>
              <a:srgbClr val="252D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97280"/>
            <a:ext cx="1828800" cy="777240"/>
          </a:xfrm>
          <a:prstGeom prst="rect">
            <a:avLst>
              <a:gd name="adj" fmla="val 7059"/>
            </a:avLst>
          </a:prstGeom>
          <a:solidFill>
            <a:srgbClr val="4B7FA6"/>
          </a:solidFill>
          <a:ln w="12700">
            <a:solidFill>
              <a:srgbClr val="4B7FA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5760" y="10972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Ordering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212848" y="1097280"/>
            <a:ext cx="210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423160" y="1097280"/>
            <a:ext cx="1828800" cy="777240"/>
          </a:xfrm>
          <a:prstGeom prst="rect">
            <a:avLst>
              <a:gd name="adj" fmla="val 7059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423160" y="10972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Flow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270248" y="1097280"/>
            <a:ext cx="210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480560" y="1097280"/>
            <a:ext cx="1828800" cy="777240"/>
          </a:xfrm>
          <a:prstGeom prst="rect">
            <a:avLst>
              <a:gd name="adj" fmla="val 7059"/>
            </a:avLst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80560" y="10972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Payment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327648" y="1097280"/>
            <a:ext cx="210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537960" y="1097280"/>
            <a:ext cx="1828800" cy="777240"/>
          </a:xfrm>
          <a:prstGeom prst="rect">
            <a:avLst>
              <a:gd name="adj" fmla="val 7059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37960" y="10972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Notify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" y="19659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65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ป้องกัน fake slip ด้วย payment webhook จาก GB Prime Pay — ยืนยันแบบ real-time ก่อน order ถือว่าชำระแล้ว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331720"/>
            <a:ext cx="4114800" cy="1828800"/>
          </a:xfrm>
          <a:prstGeom prst="rect">
            <a:avLst>
              <a:gd name="adj" fmla="val 3500"/>
            </a:avLst>
          </a:prstGeom>
          <a:solidFill>
            <a:srgbClr val="1E2535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24963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18CF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🤖  AI Guest Intelligence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288036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สรุป preference ลูกค้าด้วย gpt-4o-mini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บาร์เทนเดอร์รู้ทันทีว่าควรเสนออะไร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ไม่เก็บข้อมูลพฤติกรรม (PDPA-safe)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63440" y="2331720"/>
            <a:ext cx="4114800" cy="1828800"/>
          </a:xfrm>
          <a:prstGeom prst="rect">
            <a:avLst>
              <a:gd name="adj" fmla="val 3500"/>
            </a:avLst>
          </a:prstGeom>
          <a:solidFill>
            <a:srgbClr val="1E2535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46320" y="24963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72B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🍾  Bottle Keep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846320" y="288036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ระบบ Bottle Keep ที่ออกแบบมาสำหรับบาร์ไทย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ลูกค้าฝากขวด-เบิกขวด พร้อม balance tracking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QR scan เพื่อดึงข้อมูลขวดที่เก็บไว้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4B7FA6"/>
          </a:solidFill>
          <a:ln w="12700">
            <a:solidFill>
              <a:srgbClr val="4B7F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645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38404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4D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978408"/>
            <a:ext cx="8412480" cy="16459"/>
          </a:xfrm>
          <a:prstGeom prst="rect">
            <a:avLst/>
          </a:prstGeom>
          <a:solidFill>
            <a:srgbClr val="252D3F"/>
          </a:solidFill>
          <a:ln w="12700">
            <a:solidFill>
              <a:srgbClr val="252D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078992"/>
            <a:ext cx="8503920" cy="3246120"/>
          </a:xfrm>
          <a:prstGeom prst="rect">
            <a:avLst>
              <a:gd name="adj" fmla="val 2254"/>
            </a:avLst>
          </a:prstGeom>
          <a:solidFill>
            <a:srgbClr val="161C27"/>
          </a:solidFill>
          <a:ln w="12700">
            <a:solidFill>
              <a:srgbClr val="4B7FA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1155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VPC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463040"/>
            <a:ext cx="1463040" cy="457200"/>
          </a:xfrm>
          <a:prstGeom prst="rect">
            <a:avLst>
              <a:gd name="adj" fmla="val 10000"/>
            </a:avLst>
          </a:prstGeom>
          <a:solidFill>
            <a:srgbClr val="4B7FA6"/>
          </a:solidFill>
          <a:ln w="12700">
            <a:solidFill>
              <a:srgbClr val="4B7FA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14630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103120" y="15087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468880" y="1371600"/>
            <a:ext cx="2926080" cy="2194560"/>
          </a:xfrm>
          <a:prstGeom prst="rect">
            <a:avLst>
              <a:gd name="adj" fmla="val 2917"/>
            </a:avLst>
          </a:prstGeom>
          <a:solidFill>
            <a:srgbClr val="1E2535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606040" y="14173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Fargate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2606040" y="16916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 Monolith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606040" y="2011680"/>
            <a:ext cx="2651760" cy="256032"/>
          </a:xfrm>
          <a:prstGeom prst="rect">
            <a:avLst>
              <a:gd name="adj" fmla="val 14286"/>
            </a:avLst>
          </a:prstGeom>
          <a:solidFill>
            <a:srgbClr val="161C27"/>
          </a:solidFill>
          <a:ln w="6350">
            <a:solidFill>
              <a:srgbClr val="252D3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606040" y="20116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9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606040" y="2331720"/>
            <a:ext cx="2651760" cy="256032"/>
          </a:xfrm>
          <a:prstGeom prst="rect">
            <a:avLst>
              <a:gd name="adj" fmla="val 14286"/>
            </a:avLst>
          </a:prstGeom>
          <a:solidFill>
            <a:srgbClr val="161C27"/>
          </a:solidFill>
          <a:ln w="6350">
            <a:solidFill>
              <a:srgbClr val="252D3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606040" y="23317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9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606040" y="2651760"/>
            <a:ext cx="2651760" cy="256032"/>
          </a:xfrm>
          <a:prstGeom prst="rect">
            <a:avLst>
              <a:gd name="adj" fmla="val 14286"/>
            </a:avLst>
          </a:prstGeom>
          <a:solidFill>
            <a:srgbClr val="161C27"/>
          </a:solidFill>
          <a:ln w="6350">
            <a:solidFill>
              <a:srgbClr val="252D3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606040" y="26517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9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BullMQ Worker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606040" y="2971800"/>
            <a:ext cx="2651760" cy="256032"/>
          </a:xfrm>
          <a:prstGeom prst="rect">
            <a:avLst>
              <a:gd name="adj" fmla="val 14286"/>
            </a:avLst>
          </a:prstGeom>
          <a:solidFill>
            <a:srgbClr val="161C27"/>
          </a:solidFill>
          <a:ln w="6350">
            <a:solidFill>
              <a:srgbClr val="252D3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606040" y="29718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9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Handler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0" y="15087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852160" y="1417320"/>
            <a:ext cx="2468880" cy="365760"/>
          </a:xfrm>
          <a:prstGeom prst="rect">
            <a:avLst>
              <a:gd name="adj" fmla="val 12500"/>
            </a:avLst>
          </a:prstGeom>
          <a:solidFill>
            <a:srgbClr val="4B7FA6"/>
          </a:solidFill>
          <a:ln w="12700">
            <a:solidFill>
              <a:srgbClr val="4B7FA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852160" y="1417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PostgreSQL 15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852160" y="1920240"/>
            <a:ext cx="2468880" cy="365760"/>
          </a:xfrm>
          <a:prstGeom prst="rect">
            <a:avLst>
              <a:gd name="adj" fmla="val 12500"/>
            </a:avLst>
          </a:prstGeom>
          <a:solidFill>
            <a:srgbClr val="C45858"/>
          </a:solidFill>
          <a:ln w="12700">
            <a:solidFill>
              <a:srgbClr val="C4585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852160" y="1920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ElastiCache Redis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852160" y="2423160"/>
            <a:ext cx="2468880" cy="365760"/>
          </a:xfrm>
          <a:prstGeom prst="rect">
            <a:avLst>
              <a:gd name="adj" fmla="val 12500"/>
            </a:avLst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852160" y="2423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(media / QR)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365760" y="43891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Services: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65760" y="4572000"/>
            <a:ext cx="1600200" cy="384048"/>
          </a:xfrm>
          <a:prstGeom prst="rect">
            <a:avLst>
              <a:gd name="adj" fmla="val 11905"/>
            </a:avLst>
          </a:prstGeom>
          <a:solidFill>
            <a:srgbClr val="1E2535"/>
          </a:solidFill>
          <a:ln w="12700">
            <a:solidFill>
              <a:srgbClr val="5A565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02336" y="4572000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PWA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148840" y="4572000"/>
            <a:ext cx="1600200" cy="384048"/>
          </a:xfrm>
          <a:prstGeom prst="rect">
            <a:avLst>
              <a:gd name="adj" fmla="val 11905"/>
            </a:avLst>
          </a:prstGeom>
          <a:solidFill>
            <a:srgbClr val="1E2535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185416" y="4572000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 Prime Pay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3931920" y="4572000"/>
            <a:ext cx="1600200" cy="384048"/>
          </a:xfrm>
          <a:prstGeom prst="rect">
            <a:avLst>
              <a:gd name="adj" fmla="val 11905"/>
            </a:avLst>
          </a:prstGeom>
          <a:solidFill>
            <a:srgbClr val="1E2535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968496" y="4572000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5715000" y="4572000"/>
            <a:ext cx="1600200" cy="384048"/>
          </a:xfrm>
          <a:prstGeom prst="rect">
            <a:avLst>
              <a:gd name="adj" fmla="val 11905"/>
            </a:avLst>
          </a:prstGeom>
          <a:solidFill>
            <a:srgbClr val="1E2535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751576" y="4572000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SSO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LINE OA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7498080" y="4572000"/>
            <a:ext cx="1600200" cy="384048"/>
          </a:xfrm>
          <a:prstGeom prst="rect">
            <a:avLst>
              <a:gd name="adj" fmla="val 11905"/>
            </a:avLst>
          </a:prstGeom>
          <a:solidFill>
            <a:srgbClr val="1E2535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534656" y="4572000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645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38404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4D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Payment Gateway — ทำไมถึงเลือก GB Prime Pay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978408"/>
            <a:ext cx="8412480" cy="16459"/>
          </a:xfrm>
          <a:prstGeom prst="rect">
            <a:avLst/>
          </a:prstGeom>
          <a:solidFill>
            <a:srgbClr val="252D3F"/>
          </a:solidFill>
          <a:ln w="12700">
            <a:solidFill>
              <a:srgbClr val="252D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97280"/>
            <a:ext cx="2697480" cy="3493008"/>
          </a:xfrm>
          <a:prstGeom prst="rect">
            <a:avLst>
              <a:gd name="adj" fmla="val 2373"/>
            </a:avLst>
          </a:prstGeom>
          <a:solidFill>
            <a:srgbClr val="1E2535"/>
          </a:solidFill>
          <a:ln w="25400">
            <a:solidFill>
              <a:srgbClr val="4CAF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97280"/>
            <a:ext cx="2697480" cy="54864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5488" y="1170432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CHOSEN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75488" y="1444752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 Prime Pay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75488" y="1810512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Pros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12064" y="2066544"/>
            <a:ext cx="73152" cy="73152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011680"/>
            <a:ext cx="229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PromptPay QR native — core feature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12064" y="2395728"/>
            <a:ext cx="73152" cy="73152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340864"/>
            <a:ext cx="229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Webhook-first design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12064" y="2724912"/>
            <a:ext cx="73152" cy="73152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2670048"/>
            <a:ext cx="229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Integration ง่าย — เหมาะ SME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12064" y="3054096"/>
            <a:ext cx="73152" cy="73152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2999232"/>
            <a:ext cx="229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เอกสาร/support ภาษาไทย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12064" y="3383280"/>
            <a:ext cx="73152" cy="73152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328416"/>
            <a:ext cx="229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Onboarding 3–5 วัน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475488" y="3200400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5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Cons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12064" y="3456432"/>
            <a:ext cx="73152" cy="73152"/>
          </a:xfrm>
          <a:prstGeom prst="ellipse">
            <a:avLst/>
          </a:prstGeom>
          <a:solidFill>
            <a:srgbClr val="C45858"/>
          </a:solidFill>
          <a:ln w="12700">
            <a:solidFill>
              <a:srgbClr val="C4585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3401568"/>
            <a:ext cx="2295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Feature น้อยกว่า Omise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12064" y="3749040"/>
            <a:ext cx="73152" cy="73152"/>
          </a:xfrm>
          <a:prstGeom prst="ellipse">
            <a:avLst/>
          </a:prstGeom>
          <a:solidFill>
            <a:srgbClr val="C45858"/>
          </a:solidFill>
          <a:ln w="12700">
            <a:solidFill>
              <a:srgbClr val="C4585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" y="3694176"/>
            <a:ext cx="2295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ไม่รองรับ credit card โดยตรง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46120" y="1097280"/>
            <a:ext cx="2697480" cy="3493008"/>
          </a:xfrm>
          <a:prstGeom prst="rect">
            <a:avLst>
              <a:gd name="adj" fmla="val 2373"/>
            </a:avLst>
          </a:prstGeom>
          <a:solidFill>
            <a:srgbClr val="1E2535"/>
          </a:solidFill>
          <a:ln w="6350">
            <a:solidFill>
              <a:srgbClr val="4B7FA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355848" y="1188720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Omise (Opn Payments)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3355848" y="1572768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Pros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392424" y="1828800"/>
            <a:ext cx="73152" cy="73152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520440" y="1773936"/>
            <a:ext cx="229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Feature ครบ (card, wallet, QR)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392424" y="2157984"/>
            <a:ext cx="73152" cy="73152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520440" y="2103120"/>
            <a:ext cx="229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รองรับ international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392424" y="2487168"/>
            <a:ext cx="73152" cy="73152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520440" y="2432304"/>
            <a:ext cx="229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SDK ดี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3355848" y="3218688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5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Cons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392424" y="3474720"/>
            <a:ext cx="73152" cy="73152"/>
          </a:xfrm>
          <a:prstGeom prst="ellipse">
            <a:avLst/>
          </a:prstGeom>
          <a:solidFill>
            <a:srgbClr val="C45858"/>
          </a:solidFill>
          <a:ln w="12700">
            <a:solidFill>
              <a:srgbClr val="C4585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520440" y="3419856"/>
            <a:ext cx="2295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Onboarding 1–2 สัปดาห์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392424" y="3767328"/>
            <a:ext cx="73152" cy="73152"/>
          </a:xfrm>
          <a:prstGeom prst="ellipse">
            <a:avLst/>
          </a:prstGeom>
          <a:solidFill>
            <a:srgbClr val="C45858"/>
          </a:solidFill>
          <a:ln w="12700">
            <a:solidFill>
              <a:srgbClr val="C4585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520440" y="3712464"/>
            <a:ext cx="2295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ซับซ้อนกว่าสำหรับ scope นี้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392424" y="4059936"/>
            <a:ext cx="73152" cy="73152"/>
          </a:xfrm>
          <a:prstGeom prst="ellipse">
            <a:avLst/>
          </a:prstGeom>
          <a:solidFill>
            <a:srgbClr val="C45858"/>
          </a:solidFill>
          <a:ln w="12700">
            <a:solidFill>
              <a:srgbClr val="C4585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520440" y="4005072"/>
            <a:ext cx="2295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เอกสารภาษาอังกฤษเป็นหลัก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126480" y="1097280"/>
            <a:ext cx="2697480" cy="3493008"/>
          </a:xfrm>
          <a:prstGeom prst="rect">
            <a:avLst>
              <a:gd name="adj" fmla="val 2373"/>
            </a:avLst>
          </a:prstGeom>
          <a:solidFill>
            <a:srgbClr val="1E2535"/>
          </a:solidFill>
          <a:ln w="6350">
            <a:solidFill>
              <a:srgbClr val="5A565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236208" y="1188720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API (SCB/KBank)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6236208" y="1572768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Pros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272784" y="1828800"/>
            <a:ext cx="73152" cy="73152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400800" y="1773936"/>
            <a:ext cx="229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Rate ดีกว่าเมื่อ volume สูง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272784" y="2157984"/>
            <a:ext cx="73152" cy="73152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400800" y="2103120"/>
            <a:ext cx="229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Direct settlement</a:t>
            </a:r>
            <a:endParaRPr lang="en-US" sz="850" dirty="0"/>
          </a:p>
        </p:txBody>
      </p:sp>
      <p:sp>
        <p:nvSpPr>
          <p:cNvPr id="50" name="Text 48"/>
          <p:cNvSpPr txBox="1"/>
          <p:nvPr/>
        </p:nvSpPr>
        <p:spPr>
          <a:xfrm>
            <a:off x="6236208" y="3218688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5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Cons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272784" y="3474720"/>
            <a:ext cx="73152" cy="73152"/>
          </a:xfrm>
          <a:prstGeom prst="ellipse">
            <a:avLst/>
          </a:prstGeom>
          <a:solidFill>
            <a:srgbClr val="C45858"/>
          </a:solidFill>
          <a:ln w="12700">
            <a:solidFill>
              <a:srgbClr val="C45858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400800" y="3419856"/>
            <a:ext cx="2295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ต้องเซ็น MOU + KYC corporate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272784" y="3767328"/>
            <a:ext cx="73152" cy="73152"/>
          </a:xfrm>
          <a:prstGeom prst="ellipse">
            <a:avLst/>
          </a:prstGeom>
          <a:solidFill>
            <a:srgbClr val="C45858"/>
          </a:solidFill>
          <a:ln w="12700">
            <a:solidFill>
              <a:srgbClr val="C45858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400800" y="3712464"/>
            <a:ext cx="2295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Onboarding 2–4 สัปดาห์+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272784" y="4059936"/>
            <a:ext cx="73152" cy="73152"/>
          </a:xfrm>
          <a:prstGeom prst="ellipse">
            <a:avLst/>
          </a:prstGeom>
          <a:solidFill>
            <a:srgbClr val="C45858"/>
          </a:solidFill>
          <a:ln w="12700">
            <a:solidFill>
              <a:srgbClr val="C45858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400800" y="4005072"/>
            <a:ext cx="2295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Webhook latency สูงกว่า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272784" y="4352544"/>
            <a:ext cx="73152" cy="73152"/>
          </a:xfrm>
          <a:prstGeom prst="ellipse">
            <a:avLst/>
          </a:prstGeom>
          <a:solidFill>
            <a:srgbClr val="C45858"/>
          </a:solidFill>
          <a:ln w="12700">
            <a:solidFill>
              <a:srgbClr val="C45858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400800" y="4297680"/>
            <a:ext cx="2295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ไม่เหมาะกับ rapid dev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645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38404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4D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ERD — 9 Domains · 32 Tables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978408"/>
            <a:ext cx="8412480" cy="16459"/>
          </a:xfrm>
          <a:prstGeom prst="rect">
            <a:avLst/>
          </a:prstGeom>
          <a:solidFill>
            <a:srgbClr val="252D3F"/>
          </a:solidFill>
          <a:ln w="12700">
            <a:solidFill>
              <a:srgbClr val="252D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97280"/>
            <a:ext cx="2651760" cy="1115568"/>
          </a:xfrm>
          <a:prstGeom prst="rect">
            <a:avLst>
              <a:gd name="adj" fmla="val 5738"/>
            </a:avLst>
          </a:prstGeom>
          <a:solidFill>
            <a:srgbClr val="1E2535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97280"/>
            <a:ext cx="2651760" cy="5486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12070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15727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tables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1865376"/>
            <a:ext cx="91440" cy="91440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1865376"/>
            <a:ext cx="91440" cy="91440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18688" y="1097280"/>
            <a:ext cx="2651760" cy="1115568"/>
          </a:xfrm>
          <a:prstGeom prst="rect">
            <a:avLst>
              <a:gd name="adj" fmla="val 5738"/>
            </a:avLst>
          </a:prstGeom>
          <a:solidFill>
            <a:srgbClr val="1E2535"/>
          </a:solidFill>
          <a:ln w="19050">
            <a:solidFill>
              <a:srgbClr val="4CAF8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18688" y="1097280"/>
            <a:ext cx="2651760" cy="54864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355848" y="12070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IDENTITY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355848" y="15727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tables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55848" y="1865376"/>
            <a:ext cx="91440" cy="91440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38728" y="1865376"/>
            <a:ext cx="91440" cy="91440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21608" y="1865376"/>
            <a:ext cx="91440" cy="91440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71616" y="1097280"/>
            <a:ext cx="2651760" cy="1115568"/>
          </a:xfrm>
          <a:prstGeom prst="rect">
            <a:avLst>
              <a:gd name="adj" fmla="val 5738"/>
            </a:avLst>
          </a:prstGeom>
          <a:solidFill>
            <a:srgbClr val="1E2535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71616" y="1097280"/>
            <a:ext cx="2651760" cy="54864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08776" y="12070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IAM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208776" y="15727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tables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08776" y="1865376"/>
            <a:ext cx="91440" cy="91440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91656" y="1865376"/>
            <a:ext cx="91440" cy="91440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74536" y="1865376"/>
            <a:ext cx="91440" cy="91440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57416" y="1865376"/>
            <a:ext cx="91440" cy="91440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40296" y="1865376"/>
            <a:ext cx="91440" cy="91440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08776" y="2048256"/>
            <a:ext cx="91440" cy="91440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91656" y="2048256"/>
            <a:ext cx="91440" cy="91440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74536" y="2048256"/>
            <a:ext cx="91440" cy="91440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57416" y="2048256"/>
            <a:ext cx="91440" cy="91440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5760" y="2395728"/>
            <a:ext cx="2651760" cy="1115568"/>
          </a:xfrm>
          <a:prstGeom prst="rect">
            <a:avLst>
              <a:gd name="adj" fmla="val 5738"/>
            </a:avLst>
          </a:prstGeom>
          <a:solidFill>
            <a:srgbClr val="1E2535"/>
          </a:solidFill>
          <a:ln w="19050">
            <a:solidFill>
              <a:srgbClr val="F472B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" y="2395728"/>
            <a:ext cx="2651760" cy="54864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02920" y="250545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502920" y="287121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tables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02920" y="3163824"/>
            <a:ext cx="91440" cy="91440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5800" y="3163824"/>
            <a:ext cx="91440" cy="91440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68680" y="3163824"/>
            <a:ext cx="91440" cy="91440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51560" y="3163824"/>
            <a:ext cx="91440" cy="91440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234440" y="3163824"/>
            <a:ext cx="91440" cy="91440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" y="3346704"/>
            <a:ext cx="91440" cy="91440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85800" y="3346704"/>
            <a:ext cx="91440" cy="91440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18688" y="2395728"/>
            <a:ext cx="2651760" cy="1115568"/>
          </a:xfrm>
          <a:prstGeom prst="rect">
            <a:avLst>
              <a:gd name="adj" fmla="val 5738"/>
            </a:avLst>
          </a:prstGeom>
          <a:solidFill>
            <a:srgbClr val="1E2535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218688" y="2395728"/>
            <a:ext cx="2651760" cy="54864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355848" y="250545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3355848" y="287121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tables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355848" y="3163824"/>
            <a:ext cx="91440" cy="9144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538728" y="3163824"/>
            <a:ext cx="91440" cy="9144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21608" y="3163824"/>
            <a:ext cx="91440" cy="9144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071616" y="2395728"/>
            <a:ext cx="2651760" cy="1115568"/>
          </a:xfrm>
          <a:prstGeom prst="rect">
            <a:avLst>
              <a:gd name="adj" fmla="val 5738"/>
            </a:avLst>
          </a:prstGeom>
          <a:solidFill>
            <a:srgbClr val="1E2535"/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071616" y="2395728"/>
            <a:ext cx="2651760" cy="54864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208776" y="250545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100" dirty="0"/>
          </a:p>
        </p:txBody>
      </p:sp>
      <p:sp>
        <p:nvSpPr>
          <p:cNvPr id="54" name="Text 52"/>
          <p:cNvSpPr txBox="1"/>
          <p:nvPr/>
        </p:nvSpPr>
        <p:spPr>
          <a:xfrm>
            <a:off x="6208776" y="287121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tables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208776" y="3163824"/>
            <a:ext cx="91440" cy="9144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391656" y="3163824"/>
            <a:ext cx="91440" cy="9144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574536" y="3163824"/>
            <a:ext cx="91440" cy="9144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65760" y="3694176"/>
            <a:ext cx="2651760" cy="1115568"/>
          </a:xfrm>
          <a:prstGeom prst="rect">
            <a:avLst>
              <a:gd name="adj" fmla="val 5738"/>
            </a:avLst>
          </a:prstGeom>
          <a:solidFill>
            <a:srgbClr val="1E2535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65760" y="3694176"/>
            <a:ext cx="2651760" cy="5486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502920" y="380390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100" dirty="0"/>
          </a:p>
        </p:txBody>
      </p:sp>
      <p:sp>
        <p:nvSpPr>
          <p:cNvPr id="61" name="Text 59"/>
          <p:cNvSpPr txBox="1"/>
          <p:nvPr/>
        </p:nvSpPr>
        <p:spPr>
          <a:xfrm>
            <a:off x="502920" y="416966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tables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502920" y="446227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85800" y="446227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218688" y="3694176"/>
            <a:ext cx="2651760" cy="1115568"/>
          </a:xfrm>
          <a:prstGeom prst="rect">
            <a:avLst>
              <a:gd name="adj" fmla="val 5738"/>
            </a:avLst>
          </a:prstGeom>
          <a:solidFill>
            <a:srgbClr val="1E2535"/>
          </a:solidFill>
          <a:ln w="19050">
            <a:solidFill>
              <a:srgbClr val="9D7FD4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218688" y="3694176"/>
            <a:ext cx="2651760" cy="54864"/>
          </a:xfrm>
          <a:prstGeom prst="rect">
            <a:avLst/>
          </a:prstGeom>
          <a:solidFill>
            <a:srgbClr val="9D7FD4"/>
          </a:solidFill>
          <a:ln w="12700">
            <a:solidFill>
              <a:srgbClr val="9D7FD4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3355848" y="380390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D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 KEEP</a:t>
            </a:r>
            <a:endParaRPr lang="en-US" sz="1100" dirty="0"/>
          </a:p>
        </p:txBody>
      </p:sp>
      <p:sp>
        <p:nvSpPr>
          <p:cNvPr id="67" name="Text 65"/>
          <p:cNvSpPr txBox="1"/>
          <p:nvPr/>
        </p:nvSpPr>
        <p:spPr>
          <a:xfrm>
            <a:off x="3355848" y="416966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tables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355848" y="4462272"/>
            <a:ext cx="91440" cy="91440"/>
          </a:xfrm>
          <a:prstGeom prst="ellipse">
            <a:avLst/>
          </a:prstGeom>
          <a:solidFill>
            <a:srgbClr val="9D7FD4"/>
          </a:solidFill>
          <a:ln w="12700">
            <a:solidFill>
              <a:srgbClr val="9D7FD4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538728" y="4462272"/>
            <a:ext cx="91440" cy="91440"/>
          </a:xfrm>
          <a:prstGeom prst="ellipse">
            <a:avLst/>
          </a:prstGeom>
          <a:solidFill>
            <a:srgbClr val="9D7FD4"/>
          </a:solidFill>
          <a:ln w="12700">
            <a:solidFill>
              <a:srgbClr val="9D7FD4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071616" y="3694176"/>
            <a:ext cx="2651760" cy="1115568"/>
          </a:xfrm>
          <a:prstGeom prst="rect">
            <a:avLst>
              <a:gd name="adj" fmla="val 5738"/>
            </a:avLst>
          </a:prstGeom>
          <a:solidFill>
            <a:srgbClr val="1E2535"/>
          </a:solidFill>
          <a:ln w="19050">
            <a:solidFill>
              <a:srgbClr val="9A948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071616" y="3694176"/>
            <a:ext cx="2651760" cy="54864"/>
          </a:xfrm>
          <a:prstGeom prst="rect">
            <a:avLst/>
          </a:prstGeom>
          <a:solidFill>
            <a:srgbClr val="9A9486"/>
          </a:solidFill>
          <a:ln w="12700">
            <a:solidFill>
              <a:srgbClr val="9A9486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6208776" y="380390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9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1100" dirty="0"/>
          </a:p>
        </p:txBody>
      </p:sp>
      <p:sp>
        <p:nvSpPr>
          <p:cNvPr id="73" name="Text 71"/>
          <p:cNvSpPr txBox="1"/>
          <p:nvPr/>
        </p:nvSpPr>
        <p:spPr>
          <a:xfrm>
            <a:off x="6208776" y="416966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table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6208776" y="4462272"/>
            <a:ext cx="91440" cy="91440"/>
          </a:xfrm>
          <a:prstGeom prst="ellipse">
            <a:avLst/>
          </a:prstGeom>
          <a:solidFill>
            <a:srgbClr val="9A9486"/>
          </a:solidFill>
          <a:ln w="12700">
            <a:solidFill>
              <a:srgbClr val="9A9486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365760" y="475488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tables total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645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38404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4D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Entity Relationship Diagram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978408"/>
            <a:ext cx="8412480" cy="16459"/>
          </a:xfrm>
          <a:prstGeom prst="rect">
            <a:avLst/>
          </a:prstGeom>
          <a:solidFill>
            <a:srgbClr val="252D3F"/>
          </a:solidFill>
          <a:ln w="12700">
            <a:solidFill>
              <a:srgbClr val="252D3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078992"/>
            <a:ext cx="841248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645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38404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4D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อุปกรณ์และ Interface ที่ใช้งาน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978408"/>
            <a:ext cx="8412480" cy="16459"/>
          </a:xfrm>
          <a:prstGeom prst="rect">
            <a:avLst/>
          </a:prstGeom>
          <a:solidFill>
            <a:srgbClr val="252D3F"/>
          </a:solidFill>
          <a:ln w="12700">
            <a:solidFill>
              <a:srgbClr val="252D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78992"/>
            <a:ext cx="4023360" cy="1234440"/>
          </a:xfrm>
          <a:prstGeom prst="rect">
            <a:avLst>
              <a:gd name="adj" fmla="val 5185"/>
            </a:avLst>
          </a:prstGeom>
          <a:solidFill>
            <a:srgbClr val="1E2535"/>
          </a:solidFill>
          <a:ln w="10160">
            <a:solidFill>
              <a:srgbClr val="4B7FA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30352" y="124358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11887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PWA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1499616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Staff ใช้ — รับ order, แจ้งเตือน,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จัดการ table, ดู notification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078992"/>
            <a:ext cx="4023360" cy="1234440"/>
          </a:xfrm>
          <a:prstGeom prst="rect">
            <a:avLst>
              <a:gd name="adj" fmla="val 5185"/>
            </a:avLst>
          </a:prstGeom>
          <a:solidFill>
            <a:srgbClr val="1E2535"/>
          </a:solidFill>
          <a:ln w="10160">
            <a:solidFill>
              <a:srgbClr val="D4A84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36592" y="124358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257800" y="11887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 / Desktop POS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257800" y="1499616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POS — สรุปยอด, จัดการ bill,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ดู analytics, พิมพ์ใบเสร็จ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395728"/>
            <a:ext cx="4023360" cy="1234440"/>
          </a:xfrm>
          <a:prstGeom prst="rect">
            <a:avLst>
              <a:gd name="adj" fmla="val 5185"/>
            </a:avLst>
          </a:prstGeom>
          <a:solidFill>
            <a:srgbClr val="1E2535"/>
          </a:solidFill>
          <a:ln w="10160">
            <a:solidFill>
              <a:srgbClr val="4CAF8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0352" y="25603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50545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QR Card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281635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Counter seating — ลูกค้าสแกน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เพื่อดูเมนูและสั่งเองได้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0" y="2395728"/>
            <a:ext cx="4023360" cy="1234440"/>
          </a:xfrm>
          <a:prstGeom prst="rect">
            <a:avLst>
              <a:gd name="adj" fmla="val 5185"/>
            </a:avLst>
          </a:prstGeom>
          <a:solidFill>
            <a:srgbClr val="1E2535"/>
          </a:solidFill>
          <a:ln w="10160">
            <a:solidFill>
              <a:srgbClr val="F472B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36592" y="25603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5257800" y="250545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Sticker (Table)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257800" y="281635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Table seating — QR ติดโต๊ะ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link กับ session ของโต๊ะนั้น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730752"/>
            <a:ext cx="4023360" cy="1234440"/>
          </a:xfrm>
          <a:prstGeom prst="rect">
            <a:avLst>
              <a:gd name="adj" fmla="val 5185"/>
            </a:avLst>
          </a:prstGeom>
          <a:solidFill>
            <a:srgbClr val="1E2535"/>
          </a:solidFill>
          <a:ln w="10160">
            <a:solidFill>
              <a:srgbClr val="818CF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30352" y="389534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1051560" y="38404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Cloud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4151376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ECS Fargate + RDS + Redis + S3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CI/CD ผ่าน GitHub Actions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0" y="3730752"/>
            <a:ext cx="4023360" cy="1234440"/>
          </a:xfrm>
          <a:prstGeom prst="rect">
            <a:avLst>
              <a:gd name="adj" fmla="val 5185"/>
            </a:avLst>
          </a:prstGeom>
          <a:solidFill>
            <a:srgbClr val="1E2535"/>
          </a:solidFill>
          <a:ln w="10160">
            <a:solidFill>
              <a:srgbClr val="FB923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736592" y="389534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🖨️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5257800" y="38404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Printer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257800" y="4151376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พิมพ์ใบเสร็จและ QR Code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รองรับ ESC/POS protocol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645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38404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4D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ขอบเขตของระบบ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978408"/>
            <a:ext cx="8412480" cy="16459"/>
          </a:xfrm>
          <a:prstGeom prst="rect">
            <a:avLst/>
          </a:prstGeom>
          <a:solidFill>
            <a:srgbClr val="252D3F"/>
          </a:solidFill>
          <a:ln w="12700">
            <a:solidFill>
              <a:srgbClr val="252D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97280"/>
            <a:ext cx="4023360" cy="3840480"/>
          </a:xfrm>
          <a:prstGeom prst="rect">
            <a:avLst>
              <a:gd name="adj" fmla="val 1667"/>
            </a:avLst>
          </a:prstGeom>
          <a:solidFill>
            <a:srgbClr val="1E2535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207008"/>
            <a:ext cx="640080" cy="256032"/>
          </a:xfrm>
          <a:prstGeom prst="rect">
            <a:avLst>
              <a:gd name="adj" fmla="val 14286"/>
            </a:avLst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120700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120700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1  (ส.ค. – ธ.ค. 2569)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94360" y="1664208"/>
            <a:ext cx="73152" cy="73152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1600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4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— LINE SSO + JWT + Refresh Token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94360" y="2002536"/>
            <a:ext cx="73152" cy="73152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9808" y="19385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4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+ Redis ACL permission cache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4360" y="2340864"/>
            <a:ext cx="73152" cy="73152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" y="22768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4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+ Inventory Core (CRUD)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94360" y="2679192"/>
            <a:ext cx="73152" cy="73152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9808" y="26151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4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Session + QR Code gen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94360" y="3017520"/>
            <a:ext cx="73152" cy="73152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808" y="29535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4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Flow + BullMQ queue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94360" y="3355848"/>
            <a:ext cx="73152" cy="73152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9808" y="3291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4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 Keep (moved from S2 → S1)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94360" y="3694176"/>
            <a:ext cx="73152" cy="73152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9808" y="36301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4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OA Integration (moved from S2 → S1)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63440" y="1097280"/>
            <a:ext cx="4114800" cy="3840480"/>
          </a:xfrm>
          <a:prstGeom prst="rect">
            <a:avLst>
              <a:gd name="adj" fmla="val 1667"/>
            </a:avLst>
          </a:prstGeom>
          <a:solidFill>
            <a:srgbClr val="1E2535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00600" y="1207008"/>
            <a:ext cx="640080" cy="256032"/>
          </a:xfrm>
          <a:prstGeom prst="rect">
            <a:avLst>
              <a:gd name="adj" fmla="val 14286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800600" y="120700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532120" y="120700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2  (ม.ค. – เม.ย. 2570)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92040" y="1664208"/>
            <a:ext cx="73152" cy="73152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047488" y="1600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4D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AI Guest Intelligence (gpt-4o-mini)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92040" y="2002536"/>
            <a:ext cx="73152" cy="73152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047488" y="19385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4D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Advanced Analytics dashboard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92040" y="2340864"/>
            <a:ext cx="73152" cy="73152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047488" y="22768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4D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Happy Hour automation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92040" y="2679192"/>
            <a:ext cx="73152" cy="73152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047488" y="26151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4D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Final optimization &amp; polish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45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Cut: Offline mode  ·  Member QR  ·  Staff performance analytics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645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38404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4D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AI Integration — Guest Intelligence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978408"/>
            <a:ext cx="8412480" cy="16459"/>
          </a:xfrm>
          <a:prstGeom prst="rect">
            <a:avLst/>
          </a:prstGeom>
          <a:solidFill>
            <a:srgbClr val="252D3F"/>
          </a:solidFill>
          <a:ln w="12700">
            <a:solidFill>
              <a:srgbClr val="252D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97280"/>
            <a:ext cx="2743200" cy="1097280"/>
          </a:xfrm>
          <a:prstGeom prst="rect">
            <a:avLst>
              <a:gd name="adj" fmla="val 5833"/>
            </a:avLst>
          </a:prstGeom>
          <a:solidFill>
            <a:srgbClr val="1E2535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17043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40817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gpt-4o-mini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76479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6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response_format: json_object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337560" y="1097280"/>
            <a:ext cx="2743200" cy="1097280"/>
          </a:xfrm>
          <a:prstGeom prst="rect">
            <a:avLst>
              <a:gd name="adj" fmla="val 5833"/>
            </a:avLst>
          </a:prstGeom>
          <a:solidFill>
            <a:srgbClr val="1E2535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20440" y="117043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PDPA-Safe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142646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Preference only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520440" y="166420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5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Behavioral analysis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309360" y="1097280"/>
            <a:ext cx="2468880" cy="1097280"/>
          </a:xfrm>
          <a:prstGeom prst="rect">
            <a:avLst>
              <a:gd name="adj" fmla="val 5833"/>
            </a:avLst>
          </a:prstGeom>
          <a:solidFill>
            <a:srgbClr val="1E2535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92240" y="117043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vs. Quality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140817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gpt-4o-mini  ✅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1645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6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 gpt-4o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A56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 Gemini Flash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A56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 Claude Haiku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2377440"/>
            <a:ext cx="8412480" cy="1691640"/>
          </a:xfrm>
          <a:prstGeom prst="rect">
            <a:avLst>
              <a:gd name="adj" fmla="val 3243"/>
            </a:avLst>
          </a:prstGeom>
          <a:solidFill>
            <a:srgbClr val="161C27"/>
          </a:solidFill>
          <a:ln w="6350">
            <a:solidFill>
              <a:srgbClr val="252D3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24505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2706624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CAF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are a bar assistant summarizing guest drink preferences.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CAF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Given the guest order history below, produce a JSON object with: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CAF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"summary": string, "top_drinks": string[], "avoid": string[]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CAF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Focus ONLY on drink preferences. Do NOT analyze behavior,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CAF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frequency, spending, or make personality judgments.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365760" y="41605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65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เรียกใช้เมื่อบาร์เทนเดอร์กด "ดู AI Summary" — ไม่ได้ run อัตโนมัติทุก request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645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38404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4D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ทำไมถึงเลือก OpenAI — AI Model Comparison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978408"/>
            <a:ext cx="8412480" cy="16459"/>
          </a:xfrm>
          <a:prstGeom prst="rect">
            <a:avLst/>
          </a:prstGeom>
          <a:solidFill>
            <a:srgbClr val="252D3F"/>
          </a:solidFill>
          <a:ln w="12700">
            <a:solidFill>
              <a:srgbClr val="252D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97280"/>
            <a:ext cx="2697480" cy="3858768"/>
          </a:xfrm>
          <a:prstGeom prst="rect">
            <a:avLst>
              <a:gd name="adj" fmla="val 2373"/>
            </a:avLst>
          </a:prstGeom>
          <a:solidFill>
            <a:srgbClr val="1E2535"/>
          </a:solidFill>
          <a:ln w="25400">
            <a:solidFill>
              <a:srgbClr val="4CAF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97280"/>
            <a:ext cx="2697480" cy="54864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17043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CHOSEN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1408176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75488" y="1938528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Cost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475488" y="2121408"/>
            <a:ext cx="2478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A94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$0.15 / $0.60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9A94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 1M tokens</a:t>
            </a:r>
            <a:endParaRPr lang="en-US" sz="780" dirty="0"/>
          </a:p>
        </p:txBody>
      </p:sp>
      <p:sp>
        <p:nvSpPr>
          <p:cNvPr id="13" name="Text 11"/>
          <p:cNvSpPr txBox="1"/>
          <p:nvPr/>
        </p:nvSpPr>
        <p:spPr>
          <a:xfrm>
            <a:off x="475488" y="2688336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🔷 JSON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475488" y="2871216"/>
            <a:ext cx="2478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A94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⭐⭐⭐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9A94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response_format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9A94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json_object</a:t>
            </a:r>
            <a:endParaRPr lang="en-US" sz="780" dirty="0"/>
          </a:p>
        </p:txBody>
      </p:sp>
      <p:sp>
        <p:nvSpPr>
          <p:cNvPr id="15" name="Text 13"/>
          <p:cNvSpPr txBox="1"/>
          <p:nvPr/>
        </p:nvSpPr>
        <p:spPr>
          <a:xfrm>
            <a:off x="475488" y="3438144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SDK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475488" y="3621024"/>
            <a:ext cx="2478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A94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⭐⭐⭐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9A94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openai v4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9A94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TypeScript native</a:t>
            </a:r>
            <a:endParaRPr lang="en-US" sz="780" dirty="0"/>
          </a:p>
        </p:txBody>
      </p:sp>
      <p:sp>
        <p:nvSpPr>
          <p:cNvPr id="17" name="Text 15"/>
          <p:cNvSpPr txBox="1"/>
          <p:nvPr/>
        </p:nvSpPr>
        <p:spPr>
          <a:xfrm>
            <a:off x="475488" y="4187952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ข้อสังเกต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475488" y="4370832"/>
            <a:ext cx="2478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4A84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JSON guarantee ดีที่สุด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D4A84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SDK mature สุด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D4A84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Community ใหญ่สุด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3246120" y="1097280"/>
            <a:ext cx="2697480" cy="3858768"/>
          </a:xfrm>
          <a:prstGeom prst="rect">
            <a:avLst>
              <a:gd name="adj" fmla="val 2373"/>
            </a:avLst>
          </a:prstGeom>
          <a:solidFill>
            <a:srgbClr val="1E2535"/>
          </a:solidFill>
          <a:ln w="6350">
            <a:solidFill>
              <a:srgbClr val="4B7FA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337560" y="1170432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4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1.5 Flash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355848" y="1938528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Cost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3355848" y="2121408"/>
            <a:ext cx="2478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A94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$0.075 / $0.30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9A94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 1M tokens</a:t>
            </a:r>
            <a:endParaRPr lang="en-US" sz="780" dirty="0"/>
          </a:p>
        </p:txBody>
      </p:sp>
      <p:sp>
        <p:nvSpPr>
          <p:cNvPr id="23" name="Text 21"/>
          <p:cNvSpPr txBox="1"/>
          <p:nvPr/>
        </p:nvSpPr>
        <p:spPr>
          <a:xfrm>
            <a:off x="3355848" y="2688336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🔷 JSON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3355848" y="2871216"/>
            <a:ext cx="2478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A94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⭐⭐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9A94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 mode มี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9A94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แต่ inconsistent</a:t>
            </a:r>
            <a:endParaRPr lang="en-US" sz="780" dirty="0"/>
          </a:p>
        </p:txBody>
      </p:sp>
      <p:sp>
        <p:nvSpPr>
          <p:cNvPr id="25" name="Text 23"/>
          <p:cNvSpPr txBox="1"/>
          <p:nvPr/>
        </p:nvSpPr>
        <p:spPr>
          <a:xfrm>
            <a:off x="3355848" y="3438144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SDK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3355848" y="3621024"/>
            <a:ext cx="2478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A94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⭐⭐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9A94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SDK เปลี่ยน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9A94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บ่อย (breaking)</a:t>
            </a:r>
            <a:endParaRPr lang="en-US" sz="780" dirty="0"/>
          </a:p>
        </p:txBody>
      </p:sp>
      <p:sp>
        <p:nvSpPr>
          <p:cNvPr id="27" name="Text 25"/>
          <p:cNvSpPr txBox="1"/>
          <p:nvPr/>
        </p:nvSpPr>
        <p:spPr>
          <a:xfrm>
            <a:off x="3355848" y="4187952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ข้อสังเกต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3355848" y="4370832"/>
            <a:ext cx="2478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4A84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ถูกที่สุด แต่ JSON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D4A84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reliability ต่ำกว่า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D4A84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ในช่วงที่ตัดสินใจ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6126480" y="1097280"/>
            <a:ext cx="2697480" cy="3858768"/>
          </a:xfrm>
          <a:prstGeom prst="rect">
            <a:avLst>
              <a:gd name="adj" fmla="val 2373"/>
            </a:avLst>
          </a:prstGeom>
          <a:solidFill>
            <a:srgbClr val="1E2535"/>
          </a:solidFill>
          <a:ln w="6350">
            <a:solidFill>
              <a:srgbClr val="9D7FD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17920" y="1170432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9D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3 Haiku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236208" y="1938528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Cost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6236208" y="2121408"/>
            <a:ext cx="2478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A94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$0.25 / $1.25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9A94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 1M tokens</a:t>
            </a:r>
            <a:endParaRPr lang="en-US" sz="780" dirty="0"/>
          </a:p>
        </p:txBody>
      </p:sp>
      <p:sp>
        <p:nvSpPr>
          <p:cNvPr id="33" name="Text 31"/>
          <p:cNvSpPr txBox="1"/>
          <p:nvPr/>
        </p:nvSpPr>
        <p:spPr>
          <a:xfrm>
            <a:off x="6236208" y="2688336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🔷 JSON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6236208" y="2871216"/>
            <a:ext cx="2478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A94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⭐⭐⭐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9A94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 use / JSON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9A94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ดี แต่แพงกว่า</a:t>
            </a:r>
            <a:endParaRPr lang="en-US" sz="780" dirty="0"/>
          </a:p>
        </p:txBody>
      </p:sp>
      <p:sp>
        <p:nvSpPr>
          <p:cNvPr id="35" name="Text 33"/>
          <p:cNvSpPr txBox="1"/>
          <p:nvPr/>
        </p:nvSpPr>
        <p:spPr>
          <a:xfrm>
            <a:off x="6236208" y="3438144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SDK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6236208" y="3621024"/>
            <a:ext cx="2478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A94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⭐⭐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9A94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SDK ดี แต่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9A94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community เล็กกว่า</a:t>
            </a:r>
            <a:endParaRPr lang="en-US" sz="780" dirty="0"/>
          </a:p>
        </p:txBody>
      </p:sp>
      <p:sp>
        <p:nvSpPr>
          <p:cNvPr id="37" name="Text 35"/>
          <p:cNvSpPr txBox="1"/>
          <p:nvPr/>
        </p:nvSpPr>
        <p:spPr>
          <a:xfrm>
            <a:off x="6236208" y="4187952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ข้อสังเกต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6236208" y="4370832"/>
            <a:ext cx="2478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4A84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Quality ดี แต่ราคา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D4A84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สูงกว่า gpt-4o-mini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D4A84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~2× สำหรับ use case นี้</a:t>
            </a:r>
            <a:endParaRPr lang="en-US" sz="7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645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38404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4D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ความรู้และทักษะที่ได้จากโปรเจกต์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978408"/>
            <a:ext cx="8412480" cy="16459"/>
          </a:xfrm>
          <a:prstGeom prst="rect">
            <a:avLst/>
          </a:prstGeom>
          <a:solidFill>
            <a:srgbClr val="252D3F"/>
          </a:solidFill>
          <a:ln w="12700">
            <a:solidFill>
              <a:srgbClr val="252D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97280"/>
            <a:ext cx="4023360" cy="1719072"/>
          </a:xfrm>
          <a:prstGeom prst="rect">
            <a:avLst>
              <a:gd name="adj" fmla="val 3723"/>
            </a:avLst>
          </a:prstGeom>
          <a:solidFill>
            <a:srgbClr val="1E2535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97280"/>
            <a:ext cx="4023360" cy="6400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2161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Permission Model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51790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AWS-Style RBAC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1773936"/>
            <a:ext cx="3657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→ Groups + Individual Policies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A9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Time-bound group membership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A9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Most-permissive-wins · Redis ACL cache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A9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Per-request permission computation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63440" y="1097280"/>
            <a:ext cx="4023360" cy="1719072"/>
          </a:xfrm>
          <a:prstGeom prst="rect">
            <a:avLst>
              <a:gd name="adj" fmla="val 3723"/>
            </a:avLst>
          </a:prstGeom>
          <a:solidFill>
            <a:srgbClr val="1E2535"/>
          </a:solidFill>
          <a:ln w="12700">
            <a:solidFill>
              <a:srgbClr val="4B7FA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097280"/>
            <a:ext cx="4023360" cy="64008"/>
          </a:xfrm>
          <a:prstGeom prst="rect">
            <a:avLst/>
          </a:prstGeom>
          <a:solidFill>
            <a:srgbClr val="4B7FA6"/>
          </a:solidFill>
          <a:ln w="12700">
            <a:solidFill>
              <a:srgbClr val="4B7FA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46320" y="12161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Multi-Instance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151790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Pub/Sub Bridge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1773936"/>
            <a:ext cx="3657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adapter สำหรับ horizontal scale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A9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ข้าม ECS task ได้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A9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Room-based isolation per table session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926080"/>
            <a:ext cx="4023360" cy="1719072"/>
          </a:xfrm>
          <a:prstGeom prst="rect">
            <a:avLst>
              <a:gd name="adj" fmla="val 3723"/>
            </a:avLst>
          </a:prstGeom>
          <a:solidFill>
            <a:srgbClr val="1E2535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926080"/>
            <a:ext cx="4023360" cy="64008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30449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Webhook Idempotency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34670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Pessimistic Locking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3602736"/>
            <a:ext cx="3657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UNIQUE(gateway_tx_id) + FOR UPDATE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A9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ป้องกัน double-credit จาก retry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A9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 key pattern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63440" y="2926080"/>
            <a:ext cx="4023360" cy="1719072"/>
          </a:xfrm>
          <a:prstGeom prst="rect">
            <a:avLst>
              <a:gd name="adj" fmla="val 3723"/>
            </a:avLst>
          </a:prstGeom>
          <a:solidFill>
            <a:srgbClr val="1E2535"/>
          </a:solidFill>
          <a:ln w="12700">
            <a:solidFill>
              <a:srgbClr val="9D7FD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2926080"/>
            <a:ext cx="4023360" cy="64008"/>
          </a:xfrm>
          <a:prstGeom prst="rect">
            <a:avLst/>
          </a:prstGeom>
          <a:solidFill>
            <a:srgbClr val="9D7FD4"/>
          </a:solidFill>
          <a:ln w="12700">
            <a:solidFill>
              <a:srgbClr val="9D7FD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46320" y="30449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D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Job Queue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846320" y="334670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BullMQ on Redis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4846320" y="3602736"/>
            <a:ext cx="3657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 tasks: receipt gen, push notify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A9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with exponential backoff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A9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worker process = resilience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45858"/>
          </a:solidFill>
          <a:ln w="12700">
            <a:solidFill>
              <a:srgbClr val="C4585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645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38404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4D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Secure Coding Practices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978408"/>
            <a:ext cx="8412480" cy="16459"/>
          </a:xfrm>
          <a:prstGeom prst="rect">
            <a:avLst/>
          </a:prstGeom>
          <a:solidFill>
            <a:srgbClr val="252D3F"/>
          </a:solidFill>
          <a:ln w="12700">
            <a:solidFill>
              <a:srgbClr val="252D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97280"/>
            <a:ext cx="50292" cy="594360"/>
          </a:xfrm>
          <a:prstGeom prst="rect">
            <a:avLst/>
          </a:prstGeom>
          <a:solidFill>
            <a:srgbClr val="4B7FA6"/>
          </a:solidFill>
          <a:ln w="12700">
            <a:solidFill>
              <a:srgbClr val="4B7F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097280"/>
            <a:ext cx="8275320" cy="594360"/>
          </a:xfrm>
          <a:prstGeom prst="rect">
            <a:avLst>
              <a:gd name="adj" fmla="val 7692"/>
            </a:avLst>
          </a:prstGeom>
          <a:solidFill>
            <a:srgbClr val="161C27"/>
          </a:solidFill>
          <a:ln w="6350">
            <a:solidFill>
              <a:srgbClr val="252D3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14300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Refresh Token Rotation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139903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6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access: 15min · refresh: 7d · rotate on use · revoke on logout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1865376"/>
            <a:ext cx="50292" cy="59436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1865376"/>
            <a:ext cx="8275320" cy="594360"/>
          </a:xfrm>
          <a:prstGeom prst="rect">
            <a:avLst>
              <a:gd name="adj" fmla="val 7692"/>
            </a:avLst>
          </a:prstGeom>
          <a:solidFill>
            <a:srgbClr val="161C27"/>
          </a:solidFill>
          <a:ln w="6350">
            <a:solidFill>
              <a:srgbClr val="252D3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1911096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Permission-Gated Mutations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2167128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6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Manager PIN required · server-side guard · no client bypass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2633472"/>
            <a:ext cx="50292" cy="594360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2633472"/>
            <a:ext cx="8275320" cy="594360"/>
          </a:xfrm>
          <a:prstGeom prst="rect">
            <a:avLst>
              <a:gd name="adj" fmla="val 7692"/>
            </a:avLst>
          </a:prstGeom>
          <a:solidFill>
            <a:srgbClr val="161C27"/>
          </a:solidFill>
          <a:ln w="6350">
            <a:solidFill>
              <a:srgbClr val="252D3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2679192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Audit Log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2935224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6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audit_log table · changed_fields jsonb · actor_id · immutable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401568"/>
            <a:ext cx="50292" cy="59436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401568"/>
            <a:ext cx="8275320" cy="594360"/>
          </a:xfrm>
          <a:prstGeom prst="rect">
            <a:avLst>
              <a:gd name="adj" fmla="val 7692"/>
            </a:avLst>
          </a:prstGeom>
          <a:solidFill>
            <a:srgbClr val="161C27"/>
          </a:solidFill>
          <a:ln w="6350">
            <a:solidFill>
              <a:srgbClr val="252D3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344728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Idempotency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370332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6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UNIQUE(gateway_tx_id) · SELECT … FOR UPDATE · no double-credit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4169664"/>
            <a:ext cx="50292" cy="594360"/>
          </a:xfrm>
          <a:prstGeom prst="rect">
            <a:avLst/>
          </a:prstGeom>
          <a:solidFill>
            <a:srgbClr val="9D7FD4"/>
          </a:solidFill>
          <a:ln w="12700">
            <a:solidFill>
              <a:srgbClr val="9D7FD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4169664"/>
            <a:ext cx="8275320" cy="594360"/>
          </a:xfrm>
          <a:prstGeom prst="rect">
            <a:avLst>
              <a:gd name="adj" fmla="val 7692"/>
            </a:avLst>
          </a:prstGeom>
          <a:solidFill>
            <a:srgbClr val="161C27"/>
          </a:solidFill>
          <a:ln w="6350">
            <a:solidFill>
              <a:srgbClr val="252D3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4215384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D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PDPA Data Anonymization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85800" y="447141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6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anonymize-not-delete · visit stays · customer.name → null · right to erasure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645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38404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4D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Gantt Chart · ส.ค. 2569 – เม.ย. 2570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978408"/>
            <a:ext cx="8412480" cy="16459"/>
          </a:xfrm>
          <a:prstGeom prst="rect">
            <a:avLst/>
          </a:prstGeom>
          <a:solidFill>
            <a:srgbClr val="252D3F"/>
          </a:solidFill>
          <a:ln w="12700">
            <a:solidFill>
              <a:srgbClr val="252D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31720" y="1115568"/>
            <a:ext cx="716280" cy="3547872"/>
          </a:xfrm>
          <a:prstGeom prst="rect">
            <a:avLst/>
          </a:prstGeom>
          <a:solidFill>
            <a:srgbClr val="161C27"/>
          </a:solidFill>
          <a:ln w="12700">
            <a:solidFill>
              <a:srgbClr val="161C2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331720" y="1115568"/>
            <a:ext cx="71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A565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ส.ค.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3048000" y="1115568"/>
            <a:ext cx="71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A565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ก.ย.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764280" y="1115568"/>
            <a:ext cx="716280" cy="3547872"/>
          </a:xfrm>
          <a:prstGeom prst="rect">
            <a:avLst/>
          </a:prstGeom>
          <a:solidFill>
            <a:srgbClr val="161C27"/>
          </a:solidFill>
          <a:ln w="12700">
            <a:solidFill>
              <a:srgbClr val="161C2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64280" y="1115568"/>
            <a:ext cx="71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A565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ต.ค.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1115568"/>
            <a:ext cx="71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A565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พ.ย.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196840" y="1115568"/>
            <a:ext cx="716280" cy="3547872"/>
          </a:xfrm>
          <a:prstGeom prst="rect">
            <a:avLst/>
          </a:prstGeom>
          <a:solidFill>
            <a:srgbClr val="161C27"/>
          </a:solidFill>
          <a:ln w="12700">
            <a:solidFill>
              <a:srgbClr val="161C2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96840" y="1115568"/>
            <a:ext cx="71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A565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ธ.ค.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5913120" y="1115568"/>
            <a:ext cx="71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A565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ม.ค.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629400" y="1115568"/>
            <a:ext cx="716280" cy="3547872"/>
          </a:xfrm>
          <a:prstGeom prst="rect">
            <a:avLst/>
          </a:prstGeom>
          <a:solidFill>
            <a:srgbClr val="161C27"/>
          </a:solidFill>
          <a:ln w="12700">
            <a:solidFill>
              <a:srgbClr val="161C2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29400" y="1115568"/>
            <a:ext cx="71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A565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ก.พ.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7345680" y="1115568"/>
            <a:ext cx="71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A565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มี.ค.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061960" y="1115568"/>
            <a:ext cx="716280" cy="3547872"/>
          </a:xfrm>
          <a:prstGeom prst="rect">
            <a:avLst/>
          </a:prstGeom>
          <a:solidFill>
            <a:srgbClr val="161C27"/>
          </a:solidFill>
          <a:ln w="12700">
            <a:solidFill>
              <a:srgbClr val="161C2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061960" y="1115568"/>
            <a:ext cx="71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A565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เม.ย.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196840" y="1115568"/>
            <a:ext cx="16459" cy="3547872"/>
          </a:xfrm>
          <a:prstGeom prst="rect">
            <a:avLst/>
          </a:prstGeom>
          <a:solidFill>
            <a:srgbClr val="C45858"/>
          </a:solidFill>
          <a:ln w="12700">
            <a:solidFill>
              <a:srgbClr val="C4585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419600" y="4407408"/>
            <a:ext cx="75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45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S1</a:t>
            </a:r>
            <a:endParaRPr lang="en-US" sz="700" dirty="0"/>
          </a:p>
        </p:txBody>
      </p:sp>
      <p:sp>
        <p:nvSpPr>
          <p:cNvPr id="23" name="Text 21"/>
          <p:cNvSpPr txBox="1"/>
          <p:nvPr/>
        </p:nvSpPr>
        <p:spPr>
          <a:xfrm>
            <a:off x="5251704" y="4407408"/>
            <a:ext cx="75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45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▶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2331720" y="1435608"/>
            <a:ext cx="1074420" cy="274320"/>
          </a:xfrm>
          <a:prstGeom prst="rect">
            <a:avLst>
              <a:gd name="adj" fmla="val 10000"/>
            </a:avLst>
          </a:prstGeom>
          <a:solidFill>
            <a:srgbClr val="4B7FA6"/>
          </a:solidFill>
          <a:ln w="12700">
            <a:solidFill>
              <a:srgbClr val="4B7FA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368296" y="1435608"/>
            <a:ext cx="10012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 + ERD + Infra + Modules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3513582" y="1755648"/>
            <a:ext cx="179070" cy="274320"/>
          </a:xfrm>
          <a:prstGeom prst="rect">
            <a:avLst>
              <a:gd name="adj" fmla="val 15319"/>
            </a:avLst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13582" y="2075688"/>
            <a:ext cx="179070" cy="274320"/>
          </a:xfrm>
          <a:prstGeom prst="rect">
            <a:avLst>
              <a:gd name="adj" fmla="val 15319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92652" y="2395728"/>
            <a:ext cx="322326" cy="274320"/>
          </a:xfrm>
          <a:prstGeom prst="rect">
            <a:avLst>
              <a:gd name="adj" fmla="val 10000"/>
            </a:avLst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014978" y="2715768"/>
            <a:ext cx="179070" cy="274320"/>
          </a:xfrm>
          <a:prstGeom prst="rect">
            <a:avLst>
              <a:gd name="adj" fmla="val 15319"/>
            </a:avLst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94048" y="3035808"/>
            <a:ext cx="179070" cy="274320"/>
          </a:xfrm>
          <a:prstGeom prst="rect">
            <a:avLst>
              <a:gd name="adj" fmla="val 15319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94048" y="3355848"/>
            <a:ext cx="179070" cy="274320"/>
          </a:xfrm>
          <a:prstGeom prst="rect">
            <a:avLst>
              <a:gd name="adj" fmla="val 15319"/>
            </a:avLst>
          </a:prstGeom>
          <a:solidFill>
            <a:srgbClr val="9D7FD4"/>
          </a:solidFill>
          <a:ln w="12700">
            <a:solidFill>
              <a:srgbClr val="9D7FD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73118" y="3675888"/>
            <a:ext cx="157582" cy="274320"/>
          </a:xfrm>
          <a:prstGeom prst="rect">
            <a:avLst>
              <a:gd name="adj" fmla="val 17408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30700" y="3675888"/>
            <a:ext cx="666140" cy="274320"/>
          </a:xfrm>
          <a:prstGeom prst="rect">
            <a:avLst>
              <a:gd name="adj" fmla="val 10000"/>
            </a:avLst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567276" y="3675888"/>
            <a:ext cx="5929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5196840" y="3995928"/>
            <a:ext cx="1432560" cy="274320"/>
          </a:xfrm>
          <a:prstGeom prst="rect">
            <a:avLst>
              <a:gd name="adj" fmla="val 10000"/>
            </a:avLst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233416" y="3995928"/>
            <a:ext cx="1359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Guest Intelligence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6629400" y="3995928"/>
            <a:ext cx="1074420" cy="274320"/>
          </a:xfrm>
          <a:prstGeom prst="rect">
            <a:avLst>
              <a:gd name="adj" fmla="val 10000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665976" y="3995928"/>
            <a:ext cx="10012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7703820" y="3995928"/>
            <a:ext cx="716280" cy="274320"/>
          </a:xfrm>
          <a:prstGeom prst="rect">
            <a:avLst>
              <a:gd name="adj" fmla="val 10000"/>
            </a:avLst>
          </a:prstGeom>
          <a:solidFill>
            <a:srgbClr val="C45858"/>
          </a:solidFill>
          <a:ln w="12700">
            <a:solidFill>
              <a:srgbClr val="C4585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740396" y="3995928"/>
            <a:ext cx="643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/ Final</a:t>
            </a:r>
            <a:endParaRPr lang="en-US" sz="650" dirty="0"/>
          </a:p>
        </p:txBody>
      </p:sp>
      <p:sp>
        <p:nvSpPr>
          <p:cNvPr id="41" name="Text 39"/>
          <p:cNvSpPr txBox="1"/>
          <p:nvPr/>
        </p:nvSpPr>
        <p:spPr>
          <a:xfrm>
            <a:off x="182880" y="143560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A9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Arch/Infra/ERD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1737360" y="1490472"/>
            <a:ext cx="219456" cy="164592"/>
          </a:xfrm>
          <a:prstGeom prst="rect">
            <a:avLst>
              <a:gd name="adj" fmla="val 11111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737360" y="1490472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NJ</a:t>
            </a:r>
            <a:endParaRPr lang="en-US" sz="600" dirty="0"/>
          </a:p>
        </p:txBody>
      </p:sp>
      <p:sp>
        <p:nvSpPr>
          <p:cNvPr id="44" name="Text 42"/>
          <p:cNvSpPr txBox="1"/>
          <p:nvPr/>
        </p:nvSpPr>
        <p:spPr>
          <a:xfrm>
            <a:off x="182880" y="17556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A9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UX/UI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1737360" y="1810512"/>
            <a:ext cx="219456" cy="164592"/>
          </a:xfrm>
          <a:prstGeom prst="rect">
            <a:avLst>
              <a:gd name="adj" fmla="val 11111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737360" y="1810512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NJ</a:t>
            </a:r>
            <a:endParaRPr lang="en-US" sz="600" dirty="0"/>
          </a:p>
        </p:txBody>
      </p:sp>
      <p:sp>
        <p:nvSpPr>
          <p:cNvPr id="47" name="Text 45"/>
          <p:cNvSpPr txBox="1"/>
          <p:nvPr/>
        </p:nvSpPr>
        <p:spPr>
          <a:xfrm>
            <a:off x="182880" y="20756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A9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Design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1737360" y="2130552"/>
            <a:ext cx="219456" cy="164592"/>
          </a:xfrm>
          <a:prstGeom prst="rect">
            <a:avLst>
              <a:gd name="adj" fmla="val 11111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1737360" y="2130552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NJ</a:t>
            </a:r>
            <a:endParaRPr lang="en-US" sz="600" dirty="0"/>
          </a:p>
        </p:txBody>
      </p:sp>
      <p:sp>
        <p:nvSpPr>
          <p:cNvPr id="50" name="Text 48"/>
          <p:cNvSpPr txBox="1"/>
          <p:nvPr/>
        </p:nvSpPr>
        <p:spPr>
          <a:xfrm>
            <a:off x="182880" y="239572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A9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IAM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1737360" y="2450592"/>
            <a:ext cx="219456" cy="164592"/>
          </a:xfrm>
          <a:prstGeom prst="rect">
            <a:avLst>
              <a:gd name="adj" fmla="val 11111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1737360" y="2450592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NJ</a:t>
            </a:r>
            <a:endParaRPr lang="en-US" sz="600" dirty="0"/>
          </a:p>
        </p:txBody>
      </p:sp>
      <p:sp>
        <p:nvSpPr>
          <p:cNvPr id="53" name="Shape 51"/>
          <p:cNvSpPr/>
          <p:nvPr/>
        </p:nvSpPr>
        <p:spPr>
          <a:xfrm>
            <a:off x="1984248" y="2450592"/>
            <a:ext cx="219456" cy="164592"/>
          </a:xfrm>
          <a:prstGeom prst="rect">
            <a:avLst>
              <a:gd name="adj" fmla="val 11111"/>
            </a:avLst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1984248" y="2450592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600" dirty="0"/>
          </a:p>
        </p:txBody>
      </p:sp>
      <p:sp>
        <p:nvSpPr>
          <p:cNvPr id="55" name="Text 53"/>
          <p:cNvSpPr txBox="1"/>
          <p:nvPr/>
        </p:nvSpPr>
        <p:spPr>
          <a:xfrm>
            <a:off x="182880" y="271576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A9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Flow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1737360" y="2770632"/>
            <a:ext cx="219456" cy="164592"/>
          </a:xfrm>
          <a:prstGeom prst="rect">
            <a:avLst>
              <a:gd name="adj" fmla="val 11111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1737360" y="2770632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NJ</a:t>
            </a:r>
            <a:endParaRPr lang="en-US" sz="600" dirty="0"/>
          </a:p>
        </p:txBody>
      </p:sp>
      <p:sp>
        <p:nvSpPr>
          <p:cNvPr id="58" name="Shape 56"/>
          <p:cNvSpPr/>
          <p:nvPr/>
        </p:nvSpPr>
        <p:spPr>
          <a:xfrm>
            <a:off x="1984248" y="2770632"/>
            <a:ext cx="219456" cy="164592"/>
          </a:xfrm>
          <a:prstGeom prst="rect">
            <a:avLst>
              <a:gd name="adj" fmla="val 11111"/>
            </a:avLst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1984248" y="2770632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600" dirty="0"/>
          </a:p>
        </p:txBody>
      </p:sp>
      <p:sp>
        <p:nvSpPr>
          <p:cNvPr id="60" name="Text 58"/>
          <p:cNvSpPr txBox="1"/>
          <p:nvPr/>
        </p:nvSpPr>
        <p:spPr>
          <a:xfrm>
            <a:off x="182880" y="303580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A9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OA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1737360" y="3090672"/>
            <a:ext cx="219456" cy="164592"/>
          </a:xfrm>
          <a:prstGeom prst="rect">
            <a:avLst>
              <a:gd name="adj" fmla="val 11111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1737360" y="3090672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NJ</a:t>
            </a:r>
            <a:endParaRPr lang="en-US" sz="600" dirty="0"/>
          </a:p>
        </p:txBody>
      </p:sp>
      <p:sp>
        <p:nvSpPr>
          <p:cNvPr id="63" name="Text 61"/>
          <p:cNvSpPr txBox="1"/>
          <p:nvPr/>
        </p:nvSpPr>
        <p:spPr>
          <a:xfrm>
            <a:off x="182880" y="33558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A9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 Keep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1737360" y="3410712"/>
            <a:ext cx="219456" cy="164592"/>
          </a:xfrm>
          <a:prstGeom prst="rect">
            <a:avLst>
              <a:gd name="adj" fmla="val 11111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1737360" y="3410712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NJ</a:t>
            </a:r>
            <a:endParaRPr lang="en-US" sz="600" dirty="0"/>
          </a:p>
        </p:txBody>
      </p:sp>
      <p:sp>
        <p:nvSpPr>
          <p:cNvPr id="66" name="Shape 64"/>
          <p:cNvSpPr/>
          <p:nvPr/>
        </p:nvSpPr>
        <p:spPr>
          <a:xfrm>
            <a:off x="1984248" y="3410712"/>
            <a:ext cx="219456" cy="164592"/>
          </a:xfrm>
          <a:prstGeom prst="rect">
            <a:avLst>
              <a:gd name="adj" fmla="val 11111"/>
            </a:avLst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1984248" y="3410712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600" dirty="0"/>
          </a:p>
        </p:txBody>
      </p:sp>
      <p:sp>
        <p:nvSpPr>
          <p:cNvPr id="68" name="Text 66"/>
          <p:cNvSpPr txBox="1"/>
          <p:nvPr/>
        </p:nvSpPr>
        <p:spPr>
          <a:xfrm>
            <a:off x="182880" y="36758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A9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Payment·Dash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1737360" y="3730752"/>
            <a:ext cx="219456" cy="164592"/>
          </a:xfrm>
          <a:prstGeom prst="rect">
            <a:avLst>
              <a:gd name="adj" fmla="val 11111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1737360" y="3730752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NJ</a:t>
            </a:r>
            <a:endParaRPr lang="en-US" sz="600" dirty="0"/>
          </a:p>
        </p:txBody>
      </p:sp>
      <p:sp>
        <p:nvSpPr>
          <p:cNvPr id="71" name="Shape 69"/>
          <p:cNvSpPr/>
          <p:nvPr/>
        </p:nvSpPr>
        <p:spPr>
          <a:xfrm>
            <a:off x="1984248" y="3730752"/>
            <a:ext cx="219456" cy="164592"/>
          </a:xfrm>
          <a:prstGeom prst="rect">
            <a:avLst>
              <a:gd name="adj" fmla="val 11111"/>
            </a:avLst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1984248" y="3730752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600" dirty="0"/>
          </a:p>
        </p:txBody>
      </p:sp>
      <p:sp>
        <p:nvSpPr>
          <p:cNvPr id="73" name="Text 71"/>
          <p:cNvSpPr txBox="1"/>
          <p:nvPr/>
        </p:nvSpPr>
        <p:spPr>
          <a:xfrm>
            <a:off x="182880" y="399592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A9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S2: AI+Anal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1737360" y="4050792"/>
            <a:ext cx="219456" cy="164592"/>
          </a:xfrm>
          <a:prstGeom prst="rect">
            <a:avLst>
              <a:gd name="adj" fmla="val 11111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1737360" y="4050792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NJ</a:t>
            </a:r>
            <a:endParaRPr lang="en-US" sz="600" dirty="0"/>
          </a:p>
        </p:txBody>
      </p:sp>
      <p:sp>
        <p:nvSpPr>
          <p:cNvPr id="76" name="Shape 74"/>
          <p:cNvSpPr/>
          <p:nvPr/>
        </p:nvSpPr>
        <p:spPr>
          <a:xfrm>
            <a:off x="1984248" y="4050792"/>
            <a:ext cx="219456" cy="164592"/>
          </a:xfrm>
          <a:prstGeom prst="rect">
            <a:avLst>
              <a:gd name="adj" fmla="val 11111"/>
            </a:avLst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1984248" y="4050792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600" dirty="0"/>
          </a:p>
        </p:txBody>
      </p:sp>
      <p:sp>
        <p:nvSpPr>
          <p:cNvPr id="78" name="Shape 76"/>
          <p:cNvSpPr/>
          <p:nvPr/>
        </p:nvSpPr>
        <p:spPr>
          <a:xfrm>
            <a:off x="365760" y="4754880"/>
            <a:ext cx="109728" cy="109728"/>
          </a:xfrm>
          <a:prstGeom prst="rect">
            <a:avLst/>
          </a:prstGeom>
          <a:solidFill>
            <a:srgbClr val="4B7FA6"/>
          </a:solidFill>
          <a:ln w="12700">
            <a:solidFill>
              <a:srgbClr val="4B7FA6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512064" y="4736592"/>
            <a:ext cx="1060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Arch/Infra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1609344" y="4754880"/>
            <a:ext cx="109728" cy="109728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1755648" y="4736592"/>
            <a:ext cx="1060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+ API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2852928" y="4754880"/>
            <a:ext cx="109728" cy="109728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2999232" y="4736592"/>
            <a:ext cx="1060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Auth+IAM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4096512" y="4754880"/>
            <a:ext cx="109728" cy="10972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4242816" y="4736592"/>
            <a:ext cx="1060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5340096" y="4754880"/>
            <a:ext cx="109728" cy="10972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5486400" y="4736592"/>
            <a:ext cx="1060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+ BK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6583680" y="4754880"/>
            <a:ext cx="109728" cy="10972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6729984" y="4736592"/>
            <a:ext cx="1060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Pay+Dash</a:t>
            </a:r>
            <a:endParaRPr lang="en-US" sz="700" dirty="0"/>
          </a:p>
        </p:txBody>
      </p:sp>
      <p:sp>
        <p:nvSpPr>
          <p:cNvPr id="90" name="Shape 88"/>
          <p:cNvSpPr/>
          <p:nvPr/>
        </p:nvSpPr>
        <p:spPr>
          <a:xfrm>
            <a:off x="7827264" y="4754880"/>
            <a:ext cx="109728" cy="10972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7973568" y="4736592"/>
            <a:ext cx="1060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S2: AI+Test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365760" y="4956048"/>
            <a:ext cx="219456" cy="137160"/>
          </a:xfrm>
          <a:prstGeom prst="rect">
            <a:avLst>
              <a:gd name="adj" fmla="val 13333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365760" y="4956048"/>
            <a:ext cx="2194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NJ</a:t>
            </a:r>
            <a:endParaRPr lang="en-US" sz="600" dirty="0"/>
          </a:p>
        </p:txBody>
      </p:sp>
      <p:sp>
        <p:nvSpPr>
          <p:cNvPr id="94" name="Text 92"/>
          <p:cNvSpPr txBox="1"/>
          <p:nvPr/>
        </p:nvSpPr>
        <p:spPr>
          <a:xfrm>
            <a:off x="621792" y="4946904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565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= ณัฐวัฒน์ จิรกุลประดิษฐ์</a:t>
            </a:r>
            <a:endParaRPr lang="en-US" sz="700" dirty="0"/>
          </a:p>
        </p:txBody>
      </p:sp>
      <p:sp>
        <p:nvSpPr>
          <p:cNvPr id="95" name="Shape 93"/>
          <p:cNvSpPr/>
          <p:nvPr/>
        </p:nvSpPr>
        <p:spPr>
          <a:xfrm>
            <a:off x="3291840" y="4956048"/>
            <a:ext cx="219456" cy="137160"/>
          </a:xfrm>
          <a:prstGeom prst="rect">
            <a:avLst>
              <a:gd name="adj" fmla="val 13333"/>
            </a:avLst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3291840" y="4956048"/>
            <a:ext cx="2194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600" dirty="0"/>
          </a:p>
        </p:txBody>
      </p:sp>
      <p:sp>
        <p:nvSpPr>
          <p:cNvPr id="97" name="Text 95"/>
          <p:cNvSpPr txBox="1"/>
          <p:nvPr/>
        </p:nvSpPr>
        <p:spPr>
          <a:xfrm>
            <a:off x="3547872" y="4946904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565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= เมธี สิริปาณสาร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D4A84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ขอบคุณที่รับฟัง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148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A9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286000" y="2724912"/>
            <a:ext cx="4572000" cy="16459"/>
          </a:xfrm>
          <a:prstGeom prst="rect">
            <a:avLst/>
          </a:prstGeom>
          <a:solidFill>
            <a:srgbClr val="252D3F"/>
          </a:solidFill>
          <a:ln w="12700">
            <a:solidFill>
              <a:srgbClr val="252D3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4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Bar Management System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2186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ณัฐวัฒน์ จิรกุลประดิษฐ์ (66210096)  ·  เมธี สิริปาณสาร (630107030019)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520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65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อาจารย์ที่ปรึกษา: อ.สนายุ จินตนาวรรณกุล  ·  Computer Engineering, DPU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4023360"/>
            <a:ext cx="987552" cy="256032"/>
          </a:xfrm>
          <a:prstGeom prst="rect">
            <a:avLst>
              <a:gd name="adj" fmla="val 21429"/>
            </a:avLst>
          </a:prstGeom>
          <a:solidFill>
            <a:srgbClr val="1E2535"/>
          </a:solidFill>
          <a:ln w="6350">
            <a:solidFill>
              <a:srgbClr val="252D3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2920" y="4023360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572768" y="4023360"/>
            <a:ext cx="987552" cy="256032"/>
          </a:xfrm>
          <a:prstGeom prst="rect">
            <a:avLst>
              <a:gd name="adj" fmla="val 21429"/>
            </a:avLst>
          </a:prstGeom>
          <a:solidFill>
            <a:srgbClr val="1E2535"/>
          </a:solidFill>
          <a:ln w="6350">
            <a:solidFill>
              <a:srgbClr val="252D3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572768" y="4023360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PWA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642616" y="4023360"/>
            <a:ext cx="987552" cy="256032"/>
          </a:xfrm>
          <a:prstGeom prst="rect">
            <a:avLst>
              <a:gd name="adj" fmla="val 21429"/>
            </a:avLst>
          </a:prstGeom>
          <a:solidFill>
            <a:srgbClr val="1E2535"/>
          </a:solidFill>
          <a:ln w="6350">
            <a:solidFill>
              <a:srgbClr val="252D3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642616" y="4023360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712464" y="4023360"/>
            <a:ext cx="987552" cy="256032"/>
          </a:xfrm>
          <a:prstGeom prst="rect">
            <a:avLst>
              <a:gd name="adj" fmla="val 21429"/>
            </a:avLst>
          </a:prstGeom>
          <a:solidFill>
            <a:srgbClr val="1E2535"/>
          </a:solidFill>
          <a:ln w="6350">
            <a:solidFill>
              <a:srgbClr val="252D3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712464" y="4023360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782312" y="4023360"/>
            <a:ext cx="987552" cy="256032"/>
          </a:xfrm>
          <a:prstGeom prst="rect">
            <a:avLst>
              <a:gd name="adj" fmla="val 21429"/>
            </a:avLst>
          </a:prstGeom>
          <a:solidFill>
            <a:srgbClr val="1E2535"/>
          </a:solidFill>
          <a:ln w="6350">
            <a:solidFill>
              <a:srgbClr val="252D3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82312" y="4023360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852160" y="4023360"/>
            <a:ext cx="987552" cy="256032"/>
          </a:xfrm>
          <a:prstGeom prst="rect">
            <a:avLst>
              <a:gd name="adj" fmla="val 21429"/>
            </a:avLst>
          </a:prstGeom>
          <a:solidFill>
            <a:srgbClr val="1E2535"/>
          </a:solidFill>
          <a:ln w="6350">
            <a:solidFill>
              <a:srgbClr val="252D3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852160" y="4023360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 Prime Pay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922008" y="4023360"/>
            <a:ext cx="987552" cy="256032"/>
          </a:xfrm>
          <a:prstGeom prst="rect">
            <a:avLst>
              <a:gd name="adj" fmla="val 21429"/>
            </a:avLst>
          </a:prstGeom>
          <a:solidFill>
            <a:srgbClr val="1E2535"/>
          </a:solidFill>
          <a:ln w="6350">
            <a:solidFill>
              <a:srgbClr val="252D3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922008" y="4023360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SSO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7991856" y="4023360"/>
            <a:ext cx="987552" cy="256032"/>
          </a:xfrm>
          <a:prstGeom prst="rect">
            <a:avLst>
              <a:gd name="adj" fmla="val 21429"/>
            </a:avLst>
          </a:prstGeom>
          <a:solidFill>
            <a:srgbClr val="1E2535"/>
          </a:solidFill>
          <a:ln w="6350">
            <a:solidFill>
              <a:srgbClr val="252D3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991856" y="4023360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ECS</a:t>
            </a:r>
            <a:endParaRPr lang="en-US" sz="7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5720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· AWS (ECS / RDS / ElastiCache / S3) · Tailwind CSS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Bar Management System</dc:title>
  <dc:subject>PptxGenJS Presentation</dc:subject>
  <dc:creator>PptxGenJS</dc:creator>
  <cp:lastModifiedBy>PptxGenJS</cp:lastModifiedBy>
  <cp:revision>1</cp:revision>
  <dcterms:created xsi:type="dcterms:W3CDTF">2026-09-21T17:35:51Z</dcterms:created>
  <dcterms:modified xsi:type="dcterms:W3CDTF">2026-09-21T17:35:51Z</dcterms:modified>
</cp:coreProperties>
</file>